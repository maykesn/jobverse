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F0C69E7C-C423-4F07-B6FE-E999F009E6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1D46CCF-4066-42A6-95B4-4FABCDA0DA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68890FF6-B646-4457-9009-8364DB68B598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6EABC1E5-EF7D-430A-A5F1-C8F651EEE435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C83200CA-607C-46EA-9F9E-6DFD3FF8F710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5F0B95C5-0000-435E-B83E-578F7A3F27DF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AF0D6CD9-DB93-42BD-BB12-B431B2425B06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F9DE371B-A330-4814-A33F-6CDEE377B8C8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2EFA657F-3022-4630-B81E-84CE93C5A7FA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E8995656-951A-485D-8E4E-BD00AAB9EC47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68867AA4-5B2C-4022-8D8B-E41895FAD552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3F7BE577-8C47-470C-9637-4F42F1F6E4B7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223F7EFD-D4E4-49C1-B27D-1124B7CD4834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833E17F5-579A-401A-B7F7-C1084C14D927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4521B446-4ED0-4C57-8966-9744EA807C86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C90FCF9F-5941-4C90-9FA6-861D05F1AE28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82C27CDD-A975-4B72-B70E-521761E0EAD1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C22B1636-F07B-4277-B7A2-9E060DB22D45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060BED22-2229-4F0B-B30A-534009B442B2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D39BF2D5-735F-460A-B8CD-B5C4DFB74BBA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C279BCE0-9F6D-4D1E-9069-8EAA11503168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3EBB41FF-B1E3-499B-BC34-E9DF9E227B99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BADA966D-3AF4-43A1-8512-0C6A8D9BBE69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89FB29FD-6F81-4946-9158-FD07E06988BD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F343BDFE-E3DA-4D37-964A-2FEE2A566C90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52A17822-6A5A-4B55-A9ED-5255FA1487B8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3A60F518-CCD9-49E9-8017-ECE9EF7502B0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A970D792-F060-4158-AD3E-BC148E2292CD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34B8E88-A732-4946-BD01-4E100F065E1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01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14662E9-5EDD-4B71-8B9F-3644A20DF0E3}"/>
              </a:ext>
            </a:extLst>
          </p:cNvPr>
          <p:cNvSpPr>
            <a:spLocks noGrp="1"/>
          </p:cNvSpPr>
          <p:nvPr/>
        </p:nvSpPr>
        <p:spPr>
          <a:xfrm>
            <a:off x="1619250" y="3000375"/>
            <a:ext cx="89535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JOBVERSE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45403F0C-F56D-4EDF-AF70-067E72F08D9B}"/>
              </a:ext>
            </a:extLst>
          </p:cNvPr>
          <p:cNvSpPr>
            <a:spLocks noGrp="1"/>
          </p:cNvSpPr>
          <p:nvPr/>
        </p:nvSpPr>
        <p:spPr>
          <a:xfrm>
            <a:off x="2381250" y="3771900"/>
            <a:ext cx="74295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80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feira de empregos imersiva que transforma candidatura em experiência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02E6AA8-A5F8-41DF-9C00-ED77C42A25FC}"/>
              </a:ext>
            </a:extLst>
          </p:cNvPr>
          <p:cNvSpPr>
            <a:spLocks noGrp="1"/>
          </p:cNvSpPr>
          <p:nvPr/>
        </p:nvSpPr>
        <p:spPr>
          <a:xfrm>
            <a:off x="4114800" y="44958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00D4FF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19373D3-CCE0-42AB-8B63-A1EBD03689DB}"/>
              </a:ext>
            </a:extLst>
          </p:cNvPr>
          <p:cNvSpPr>
            <a:spLocks noGrp="1"/>
          </p:cNvSpPr>
          <p:nvPr/>
        </p:nvSpPr>
        <p:spPr>
          <a:xfrm>
            <a:off x="4114800" y="4572000"/>
            <a:ext cx="14287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Para empresas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26908A91-F5D8-41A6-A55D-81D921590782}"/>
              </a:ext>
            </a:extLst>
          </p:cNvPr>
          <p:cNvSpPr>
            <a:spLocks noGrp="1"/>
          </p:cNvSpPr>
          <p:nvPr/>
        </p:nvSpPr>
        <p:spPr>
          <a:xfrm>
            <a:off x="5734050" y="4495800"/>
            <a:ext cx="114300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B85CFF"/>
            </a:solidFill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42C7CE33-E10A-4885-A18B-9D5A74E8E0CB}"/>
              </a:ext>
            </a:extLst>
          </p:cNvPr>
          <p:cNvSpPr>
            <a:spLocks noGrp="1"/>
          </p:cNvSpPr>
          <p:nvPr/>
        </p:nvSpPr>
        <p:spPr>
          <a:xfrm>
            <a:off x="5734050" y="4572000"/>
            <a:ext cx="1143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Para devs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A55AA7C-51D5-48E8-B55C-28423319E0BA}"/>
              </a:ext>
            </a:extLst>
          </p:cNvPr>
          <p:cNvSpPr>
            <a:spLocks noGrp="1"/>
          </p:cNvSpPr>
          <p:nvPr/>
        </p:nvSpPr>
        <p:spPr>
          <a:xfrm>
            <a:off x="7067550" y="44958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30F26B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6800263-71F7-49A7-A3AB-2A00396C3072}"/>
              </a:ext>
            </a:extLst>
          </p:cNvPr>
          <p:cNvSpPr>
            <a:spLocks noGrp="1"/>
          </p:cNvSpPr>
          <p:nvPr/>
        </p:nvSpPr>
        <p:spPr>
          <a:xfrm>
            <a:off x="7067550" y="4572000"/>
            <a:ext cx="16192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Para eventos tech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77E60E4A-9D0F-4E5F-9250-1921EB4DB427}"/>
              </a:ext>
            </a:extLst>
          </p:cNvPr>
          <p:cNvSpPr>
            <a:spLocks noGrp="1"/>
          </p:cNvSpPr>
          <p:nvPr/>
        </p:nvSpPr>
        <p:spPr>
          <a:xfrm>
            <a:off x="2476500" y="5286375"/>
            <a:ext cx="7239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lang="pt-BR"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HackWeb 2026 | Desafio 4 - ExpoVerse | Equipe Zeus</a:t>
            </a:r>
            <a:endParaRPr sz="1350" b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6" name="JobVerse logo oficial">
            <a:extLst>
              <a:ext uri="{FF2B5EF4-FFF2-40B4-BE49-F238E27FC236}">
                <a16:creationId xmlns:a16="http://schemas.microsoft.com/office/drawing/2014/main" id="{F3BAC70B-F3DE-E4AE-DBB2-97A96ED52E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900" y="431800"/>
            <a:ext cx="1854200" cy="2667000"/>
          </a:xfrm>
          <a:prstGeom prst="rect">
            <a:avLst/>
          </a:prstGeom>
        </p:spPr>
      </p:pic>
      <p:sp>
        <p:nvSpPr>
          <p:cNvPr id="30" name="Integrantes Equipe Zeus">
            <a:extLst>
              <a:ext uri="{FF2B5EF4-FFF2-40B4-BE49-F238E27FC236}">
                <a16:creationId xmlns:a16="http://schemas.microsoft.com/office/drawing/2014/main" id="{476F4E35-EBFB-BEC0-E4A5-F880A0307338}"/>
              </a:ext>
            </a:extLst>
          </p:cNvPr>
          <p:cNvSpPr txBox="1"/>
          <p:nvPr/>
        </p:nvSpPr>
        <p:spPr>
          <a:xfrm>
            <a:off x="2476500" y="5588000"/>
            <a:ext cx="7239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pt-BR" sz="1200">
                <a:solidFill>
                  <a:srgbClr val="BFBFBF"/>
                </a:solidFill>
                <a:latin typeface="Aptos" panose="020B0004020202020204" pitchFamily="34" charset="0"/>
              </a:rPr>
              <a:t>Yang Andrade, Mayke Nogueira, Nicolas Cabral e Samuel Macena</a:t>
            </a:r>
          </a:p>
        </p:txBody>
      </p:sp>
    </p:spTree>
    <p:extLst>
      <p:ext uri="{BB962C8B-B14F-4D97-AF65-F5344CB8AC3E}">
        <p14:creationId xmlns:p14="http://schemas.microsoft.com/office/powerpoint/2010/main" val="125953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C53784A6-D0DD-40C3-A2E9-B22B671A7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1CAB21-2EC9-4E9F-AC11-8A2B61D484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04992D6-8AEA-4F40-8A0E-0B326F3C0A3A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7CA40F00-2C88-4D4A-9469-9F8D649363C5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25BDB990-C191-44EA-A52C-166FBFB2FB21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CFEC2E09-EA7F-4396-8CFF-922F0AD76EEA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156D0138-5906-425C-96E0-225C132ABADE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496898B-14C2-4AC1-970E-437E16D1F87B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2BAE588E-7489-4F12-B349-B06BE6F64AB5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B83B21F6-DF14-43AC-80CC-6927A57800BF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84BD61E3-4887-4883-97BD-7C4047D3EAD9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D8F25056-F95E-411F-A6A4-844C54CAE266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A526042C-C676-4B9E-8A14-7AC8BAAD701E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F8BF137-212E-4272-9D13-7FB3F9F59182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228EC484-96C9-4136-BADB-246399BEB5DB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356E3DC4-E09D-42EE-B1C2-64A5A42F6B65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2553BF9E-015A-40FF-833D-32CF872DCAB5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CE7F3B62-400F-4F76-8AE8-C2BA953F2FDB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5641D2EE-C361-43C8-8017-C5EF600EEFE9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30A91735-14F8-4384-A7E2-5F9F31C69953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DFC1692D-20C3-4E5B-B55B-DC63A2142AC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371B144-4F47-4F90-BD98-19EABFDD31AC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4C6F6536-1FEA-48F4-A939-930B1868BEA6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1AEBBE4D-02B3-4162-A876-91BB70F38CC7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DB0893BF-FF32-4B2A-8FC6-C04C202086EC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90A8C7E4-B256-4FC5-A2FB-E2BA66B91153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8BC914BF-6E5D-4389-AFFA-EEDE51DB7FF5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90E35788-863B-4FF3-BDB5-8B5FBEC5606A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9129A41-A130-4485-ADF5-AB4693D11F1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02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AAE8E3E-86AC-4140-B412-FD8F3DEFA02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A DOR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D61788B-924F-425A-9CE2-8F248B95085E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Recrutar devs ainda começa com uma experiência sem alma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AB8EE1C-BE1C-413A-B287-09307E64E14F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Empresas competem por atenção, mas a primeira impressão quase sempre é um formulário.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53973E9-0E5C-41F3-ABF8-AA6665F03E0C}"/>
              </a:ext>
            </a:extLst>
          </p:cNvPr>
          <p:cNvSpPr>
            <a:spLocks noGrp="1"/>
          </p:cNvSpPr>
          <p:nvPr/>
        </p:nvSpPr>
        <p:spPr>
          <a:xfrm>
            <a:off x="1123950" y="2495550"/>
            <a:ext cx="2381250" cy="1181100"/>
          </a:xfrm>
          <a:prstGeom prst="roundRect">
            <a:avLst>
              <a:gd name="adj" fmla="val 9677"/>
            </a:avLst>
          </a:prstGeom>
          <a:solidFill>
            <a:srgbClr val="0B1020"/>
          </a:solidFill>
          <a:ln w="9525">
            <a:solidFill>
              <a:srgbClr val="FF5A7A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450C912-8BB6-4978-8429-B0294E396969}"/>
              </a:ext>
            </a:extLst>
          </p:cNvPr>
          <p:cNvSpPr>
            <a:spLocks noGrp="1"/>
          </p:cNvSpPr>
          <p:nvPr/>
        </p:nvSpPr>
        <p:spPr>
          <a:xfrm>
            <a:off x="1352550" y="26289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550" b="1">
                <a:solidFill>
                  <a:srgbClr val="FF5A7A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5A7A"/>
                </a:solidFill>
                <a:latin typeface="Aptos"/>
                <a:ea typeface="Aptos"/>
                <a:cs typeface="Aptos"/>
              </a:rPr>
              <a:t>CV no vazio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18BC3D4-60A7-451C-9EEE-019B1A8A6B64}"/>
              </a:ext>
            </a:extLst>
          </p:cNvPr>
          <p:cNvSpPr>
            <a:spLocks noGrp="1"/>
          </p:cNvSpPr>
          <p:nvPr/>
        </p:nvSpPr>
        <p:spPr>
          <a:xfrm>
            <a:off x="1352550" y="3098800"/>
            <a:ext cx="1866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Candidato não sente cultura, time ou ambiente.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E5A608C1-F179-4E0B-A0AF-514D863E78B9}"/>
              </a:ext>
            </a:extLst>
          </p:cNvPr>
          <p:cNvSpPr>
            <a:spLocks noGrp="1"/>
          </p:cNvSpPr>
          <p:nvPr/>
        </p:nvSpPr>
        <p:spPr>
          <a:xfrm>
            <a:off x="4905375" y="2495550"/>
            <a:ext cx="2381250" cy="1181100"/>
          </a:xfrm>
          <a:prstGeom prst="roundRect">
            <a:avLst>
              <a:gd name="adj" fmla="val 9677"/>
            </a:avLst>
          </a:prstGeom>
          <a:solidFill>
            <a:srgbClr val="0B1020"/>
          </a:solidFill>
          <a:ln w="9525">
            <a:solidFill>
              <a:srgbClr val="00D4FF"/>
            </a:solidFill>
          </a:ln>
        </p:spPr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E162882-FBCB-4951-A778-D4B08A34A7AD}"/>
              </a:ext>
            </a:extLst>
          </p:cNvPr>
          <p:cNvSpPr>
            <a:spLocks noGrp="1"/>
          </p:cNvSpPr>
          <p:nvPr/>
        </p:nvSpPr>
        <p:spPr>
          <a:xfrm>
            <a:off x="5133975" y="26289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5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Marca invisível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82CBD04B-7F1D-49EE-805B-7FF177C3933A}"/>
              </a:ext>
            </a:extLst>
          </p:cNvPr>
          <p:cNvSpPr>
            <a:spLocks noGrp="1"/>
          </p:cNvSpPr>
          <p:nvPr/>
        </p:nvSpPr>
        <p:spPr>
          <a:xfrm>
            <a:off x="5133975" y="3098800"/>
            <a:ext cx="1866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Empresa não consegue mostrar quem é antes da entrevista.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8E72BCE-6AAE-49FA-AE02-3F5D02EA2504}"/>
              </a:ext>
            </a:extLst>
          </p:cNvPr>
          <p:cNvSpPr>
            <a:spLocks noGrp="1"/>
          </p:cNvSpPr>
          <p:nvPr/>
        </p:nvSpPr>
        <p:spPr>
          <a:xfrm>
            <a:off x="8686800" y="2495550"/>
            <a:ext cx="2381250" cy="1181100"/>
          </a:xfrm>
          <a:prstGeom prst="roundRect">
            <a:avLst>
              <a:gd name="adj" fmla="val 9677"/>
            </a:avLst>
          </a:prstGeom>
          <a:solidFill>
            <a:srgbClr val="0B1020"/>
          </a:solidFill>
          <a:ln w="9525">
            <a:solidFill>
              <a:srgbClr val="B85CFF"/>
            </a:solidFill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74393D7-5F26-4BA4-8B13-2BCCBC8ADC9A}"/>
              </a:ext>
            </a:extLst>
          </p:cNvPr>
          <p:cNvSpPr>
            <a:spLocks noGrp="1"/>
          </p:cNvSpPr>
          <p:nvPr/>
        </p:nvSpPr>
        <p:spPr>
          <a:xfrm>
            <a:off x="8915400" y="26289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5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Baixo sinal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04B541C-50C6-435E-B348-16EE84CFB9B5}"/>
              </a:ext>
            </a:extLst>
          </p:cNvPr>
          <p:cNvSpPr>
            <a:spLocks noGrp="1"/>
          </p:cNvSpPr>
          <p:nvPr/>
        </p:nvSpPr>
        <p:spPr>
          <a:xfrm>
            <a:off x="8915400" y="3098800"/>
            <a:ext cx="18669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Recrutador recebe dados frios, sem contexto de interesse.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E33F841A-ED0D-4D46-A97A-CCD59B2A7A9B}"/>
              </a:ext>
            </a:extLst>
          </p:cNvPr>
          <p:cNvSpPr>
            <a:spLocks noGrp="1"/>
          </p:cNvSpPr>
          <p:nvPr/>
        </p:nvSpPr>
        <p:spPr>
          <a:xfrm>
            <a:off x="1600200" y="4972050"/>
            <a:ext cx="89916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21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 problema não é só contratação. É a falta de experiência no primeiro contato.</a:t>
            </a:r>
          </a:p>
        </p:txBody>
      </p:sp>
    </p:spTree>
    <p:extLst>
      <p:ext uri="{BB962C8B-B14F-4D97-AF65-F5344CB8AC3E}">
        <p14:creationId xmlns:p14="http://schemas.microsoft.com/office/powerpoint/2010/main" val="1314319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tângulo 49">
            <a:extLst>
              <a:ext uri="{FF2B5EF4-FFF2-40B4-BE49-F238E27FC236}">
                <a16:creationId xmlns:a16="http://schemas.microsoft.com/office/drawing/2014/main" id="{B1F57802-E8FD-4924-B066-17D39D37B8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7414E7-BCEC-46D0-A58A-E314F4D3B2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0D3A8526-00ED-4461-89F7-F4529C0C23DB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E6227C71-5F9E-4E50-A30F-D54D5CEE2EB1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DD543769-822C-49B8-8388-A80CCD6B896F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11B117B7-5DFC-421C-9398-7933AF89F1D4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E6765DE4-06D3-44C4-99D3-EF159114133B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3B0CD86A-D2FE-442A-94AD-28004CD762FF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F3253553-CDA3-4EB0-8615-50F57DFD23D0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A5F6CA3A-0FE5-4EA5-8739-9255434C196D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3DEC2C22-7594-47D5-9FD5-6D11A0A56468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631AD9CA-C72B-47F0-8BCF-C0F977ED8F22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92277028-CF34-46A2-A1FB-361E6246D0B7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874C856-BA8D-4EEE-BCFA-175B6ED64720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BFED8D2D-E059-453D-B347-01F96857878F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58150896-E744-4DE2-8A4A-310D6B9BF0FB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E832ED53-0699-47A0-9C01-FBC90144E042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C10B5BC8-1270-4A5C-91DC-DA0BB678913A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FA0907E7-F2C7-4B42-B367-A639BF39AFF9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D55FC5C3-93B7-4552-B2CF-76688A51DD29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936297AF-ED80-4B93-BF3E-AB5AB6B3BD13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52977566-9FB8-4664-A7A8-CAAC959D4C72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FDE32219-9B35-498A-9891-0BE244262EA5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D91B0D68-7A95-46AA-BF0D-21073B0B90DD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846BC323-C8E1-4085-BE10-75C2E23C0546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F5A06C8A-E3D3-4756-976A-427A2E87C104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E8E687BB-F88B-4636-BA31-7DAFD7ABBC6A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4A503C8F-1E7C-4BEB-95E5-4DBEE56D295A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DEC2B31C-345F-47F7-BB6D-A361AABD412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03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BBB0602-FB03-4C6D-9714-80C6153F3F1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A SOLUÇÃO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F36DE32-E37E-433E-883C-CF30EB12FE6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JobVerse transforma recrutamento em uma feira 3D no navegador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61B3884-132B-469F-BF92-43082DE9622B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 candidato explora empresas, entende cultura, encontra vagas e se candidata sem sair da experiência.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AEA8CA4-AE21-4A91-8E47-7AE4F90EF28E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343150" cy="182880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805B74CB-90D8-4101-955C-4C7F58BF4A51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57150" cy="18288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675E664-3833-46B0-8B41-2EC4774492DC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Explorar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68309BB-5E39-41BC-BCEA-A52A6A416CA5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196215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Lobby 3D com estandes de empresas e navegação em primeira pessoa.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24502C5-D70F-42EA-B240-1AFFDD5E06BB}"/>
              </a:ext>
            </a:extLst>
          </p:cNvPr>
          <p:cNvSpPr>
            <a:spLocks noGrp="1"/>
          </p:cNvSpPr>
          <p:nvPr/>
        </p:nvSpPr>
        <p:spPr>
          <a:xfrm>
            <a:off x="3581400" y="2571750"/>
            <a:ext cx="2343150" cy="182880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C3E73F9-8736-4F44-99CC-200BD892E9B8}"/>
              </a:ext>
            </a:extLst>
          </p:cNvPr>
          <p:cNvSpPr>
            <a:spLocks noGrp="1"/>
          </p:cNvSpPr>
          <p:nvPr/>
        </p:nvSpPr>
        <p:spPr>
          <a:xfrm>
            <a:off x="3581400" y="2571750"/>
            <a:ext cx="57150" cy="1828800"/>
          </a:xfrm>
          <a:prstGeom prst="rect">
            <a:avLst/>
          </a:prstGeom>
          <a:solidFill>
            <a:srgbClr val="B85CFF"/>
          </a:solidFill>
          <a:ln>
            <a:solidFill>
              <a:srgbClr val="B85CFF"/>
            </a:solidFill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2E543FBD-7E2A-4830-B6E2-2D33AFFD19AE}"/>
              </a:ext>
            </a:extLst>
          </p:cNvPr>
          <p:cNvSpPr>
            <a:spLocks noGrp="1"/>
          </p:cNvSpPr>
          <p:nvPr/>
        </p:nvSpPr>
        <p:spPr>
          <a:xfrm>
            <a:off x="3790950" y="27432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Entrar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6135966-C13C-49D5-8418-68F9F1261287}"/>
              </a:ext>
            </a:extLst>
          </p:cNvPr>
          <p:cNvSpPr>
            <a:spLocks noGrp="1"/>
          </p:cNvSpPr>
          <p:nvPr/>
        </p:nvSpPr>
        <p:spPr>
          <a:xfrm>
            <a:off x="3790950" y="3105150"/>
            <a:ext cx="196215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Salas internas com identidade visual, NPC, stack tags e quadros de vaga.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B4FCBAC9-1EFE-480C-A68A-973E66C7559B}"/>
              </a:ext>
            </a:extLst>
          </p:cNvPr>
          <p:cNvSpPr>
            <a:spLocks noGrp="1"/>
          </p:cNvSpPr>
          <p:nvPr/>
        </p:nvSpPr>
        <p:spPr>
          <a:xfrm>
            <a:off x="6381750" y="2571750"/>
            <a:ext cx="2343150" cy="182880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7053553-B334-43C1-B09D-86DD6D0226D6}"/>
              </a:ext>
            </a:extLst>
          </p:cNvPr>
          <p:cNvSpPr>
            <a:spLocks noGrp="1"/>
          </p:cNvSpPr>
          <p:nvPr/>
        </p:nvSpPr>
        <p:spPr>
          <a:xfrm>
            <a:off x="6381750" y="2571750"/>
            <a:ext cx="57150" cy="182880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03A57F19-8420-4B5A-95A1-BFD514EF88A4}"/>
              </a:ext>
            </a:extLst>
          </p:cNvPr>
          <p:cNvSpPr>
            <a:spLocks noGrp="1"/>
          </p:cNvSpPr>
          <p:nvPr/>
        </p:nvSpPr>
        <p:spPr>
          <a:xfrm>
            <a:off x="6591300" y="27432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Aplicar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556F829D-021B-405E-BE4E-7BC0174D28D3}"/>
              </a:ext>
            </a:extLst>
          </p:cNvPr>
          <p:cNvSpPr>
            <a:spLocks noGrp="1"/>
          </p:cNvSpPr>
          <p:nvPr/>
        </p:nvSpPr>
        <p:spPr>
          <a:xfrm>
            <a:off x="6591300" y="3105150"/>
            <a:ext cx="196215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CV simplificado, candidatura por vaga e match score em tempo real.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2CFFF2E2-BEC1-4870-B337-24A3147A9D31}"/>
              </a:ext>
            </a:extLst>
          </p:cNvPr>
          <p:cNvSpPr>
            <a:spLocks noGrp="1"/>
          </p:cNvSpPr>
          <p:nvPr/>
        </p:nvSpPr>
        <p:spPr>
          <a:xfrm>
            <a:off x="9182100" y="2571750"/>
            <a:ext cx="2343150" cy="1828800"/>
          </a:xfrm>
          <a:prstGeom prst="roundRect">
            <a:avLst>
              <a:gd name="adj" fmla="val 6250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BA31EBD4-ED13-4EA3-8CFC-7BF89A55922A}"/>
              </a:ext>
            </a:extLst>
          </p:cNvPr>
          <p:cNvSpPr>
            <a:spLocks noGrp="1"/>
          </p:cNvSpPr>
          <p:nvPr/>
        </p:nvSpPr>
        <p:spPr>
          <a:xfrm>
            <a:off x="9182100" y="2571750"/>
            <a:ext cx="57150" cy="1828800"/>
          </a:xfrm>
          <a:prstGeom prst="rect">
            <a:avLst/>
          </a:prstGeom>
          <a:solidFill>
            <a:srgbClr val="FF4B91"/>
          </a:solidFill>
          <a:ln>
            <a:solidFill>
              <a:srgbClr val="FF4B91"/>
            </a:solidFill>
          </a:ln>
        </p:spPr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6EE3672-4418-4BC3-B16E-EEC87C299555}"/>
              </a:ext>
            </a:extLst>
          </p:cNvPr>
          <p:cNvSpPr>
            <a:spLocks noGrp="1"/>
          </p:cNvSpPr>
          <p:nvPr/>
        </p:nvSpPr>
        <p:spPr>
          <a:xfrm>
            <a:off x="9391650" y="2743200"/>
            <a:ext cx="19812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FF4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4B91"/>
                </a:solidFill>
                <a:latin typeface="Aptos"/>
                <a:ea typeface="Aptos"/>
                <a:cs typeface="Aptos"/>
              </a:rPr>
              <a:t>Decidir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9FC550FB-701F-4BD6-8A48-48367F3298F2}"/>
              </a:ext>
            </a:extLst>
          </p:cNvPr>
          <p:cNvSpPr>
            <a:spLocks noGrp="1"/>
          </p:cNvSpPr>
          <p:nvPr/>
        </p:nvSpPr>
        <p:spPr>
          <a:xfrm>
            <a:off x="9391650" y="3105150"/>
            <a:ext cx="1962150" cy="1162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Painel recrutador com CVs, engajamento e heatmap de permanência.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53300E4-BD6D-4E73-83C0-BF90A3392FC3}"/>
              </a:ext>
            </a:extLst>
          </p:cNvPr>
          <p:cNvSpPr>
            <a:spLocks noGrp="1"/>
          </p:cNvSpPr>
          <p:nvPr/>
        </p:nvSpPr>
        <p:spPr>
          <a:xfrm>
            <a:off x="1476375" y="5143500"/>
            <a:ext cx="92392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É employer branding, triagem inicial e showcase tech em uma única experiência.</a:t>
            </a:r>
          </a:p>
        </p:txBody>
      </p:sp>
    </p:spTree>
    <p:extLst>
      <p:ext uri="{BB962C8B-B14F-4D97-AF65-F5344CB8AC3E}">
        <p14:creationId xmlns:p14="http://schemas.microsoft.com/office/powerpoint/2010/main" val="426427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08AD89E0-F23F-4D4D-A109-85068FAF04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A7E9A74-DF1C-45AE-AB01-0AF12F5338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F49C3F77-4357-46C0-9480-52FFB104B10E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CFCFC5FC-0EC7-4783-A51C-6182EB98FAE5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A07A17F6-E7A2-44BC-B472-0CC86E507978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15E1B870-B4FB-4BF7-8C1F-F6023288088E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2F7C5163-F172-46A5-92CA-1A9D8E8F1B61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ACC8F508-1D3C-496E-9FCE-44609B0A4412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8E2D4239-0FC2-4781-9070-8225536E5D7C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110AC029-5DFE-47BA-A6BD-FA2C43B7C40D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E5501500-A8B2-483F-B4C9-76D42B3D27B6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DCEE1397-0CE7-4745-B213-3775F900E98A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1562E391-10E1-4A39-8C54-E8CA702DE7E9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024C4032-9881-4065-AE1A-2B4C67685B79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991D80BC-DBDC-400F-831B-C79A29EAA7AB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E8F1875B-6CE7-4EF0-B84C-9C1D4AD7BEA8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AF7880EF-938A-4E4F-8625-C9762C0A5FF2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0C236C92-F571-494A-AAA9-A57E99396B2A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9F512660-A6DD-4A79-A49D-B0758613F112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1E877D1F-72FD-47A3-B9D2-8E7D5D9F7F0D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AE203372-56CC-4B2E-88CB-CFF76CF93B1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5DE8012F-8E4A-43E0-9A16-608AFFBDA2E2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46DE39C1-3E42-4502-8257-841F873EBE23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3F11C8DC-D934-4DB2-B228-40F425C1ED77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C6DE5AA4-F9A6-42DA-A528-AA1549A127EA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270346E2-0B59-417C-BA50-E9B228A605F3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18F5AD7A-9B9C-4D8E-A0D1-841A17A9AC85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15CCA46B-1ACA-4152-B033-ED8B16F8D321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0BC6B89-0564-4CD3-9EA6-E7784E29CCB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04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8F32EE36-C2F8-437E-A506-DA8CCC0CD51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PROPOSTA DE VALOR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2501666-15D1-40E2-9B01-5CA11E4977E4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Por que uma empresa usaria o JobVerse?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FD85BD8-355A-4834-A451-4AC955FC3FDC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Porque vender uma vaga também é vender uma cultura, um time e uma visão de futuro.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07C74ED-A887-4E5D-A575-82B11B71A0F8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E9961A3-240E-4F31-8CAA-F2088B7C4537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57150" cy="200025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8E88A22-F7BA-4DEF-B5B8-62B825A0CD19}"/>
              </a:ext>
            </a:extLst>
          </p:cNvPr>
          <p:cNvSpPr>
            <a:spLocks noGrp="1"/>
          </p:cNvSpPr>
          <p:nvPr/>
        </p:nvSpPr>
        <p:spPr>
          <a:xfrm>
            <a:off x="1085850" y="2590800"/>
            <a:ext cx="28765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Employer branding imersivo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A63C6A4-48D8-4AB7-A612-C49EBF40DBF4}"/>
              </a:ext>
            </a:extLst>
          </p:cNvPr>
          <p:cNvSpPr>
            <a:spLocks noGrp="1"/>
          </p:cNvSpPr>
          <p:nvPr/>
        </p:nvSpPr>
        <p:spPr>
          <a:xfrm>
            <a:off x="1085850" y="2952750"/>
            <a:ext cx="2857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Cada empresa ganha um espaço 3D com identidade própria, tornando sua marca mais memorável que uma página estática.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5D293FF8-FDC3-48A0-A782-627912236D90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E7A8E73-09AE-4369-8C12-DE3D43EAAA2F}"/>
              </a:ext>
            </a:extLst>
          </p:cNvPr>
          <p:cNvSpPr>
            <a:spLocks noGrp="1"/>
          </p:cNvSpPr>
          <p:nvPr/>
        </p:nvSpPr>
        <p:spPr>
          <a:xfrm>
            <a:off x="4476750" y="2419350"/>
            <a:ext cx="57150" cy="200025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DA72CE1-D00A-483A-9AAE-E4944AEEC5D1}"/>
              </a:ext>
            </a:extLst>
          </p:cNvPr>
          <p:cNvSpPr>
            <a:spLocks noGrp="1"/>
          </p:cNvSpPr>
          <p:nvPr/>
        </p:nvSpPr>
        <p:spPr>
          <a:xfrm>
            <a:off x="4686300" y="2590800"/>
            <a:ext cx="28765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Candidatos mais qualificados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08A06A0-CD73-44B6-B0E2-D823E3DBD403}"/>
              </a:ext>
            </a:extLst>
          </p:cNvPr>
          <p:cNvSpPr>
            <a:spLocks noGrp="1"/>
          </p:cNvSpPr>
          <p:nvPr/>
        </p:nvSpPr>
        <p:spPr>
          <a:xfrm>
            <a:off x="4686300" y="2952750"/>
            <a:ext cx="2857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Quem explora a sala, lê vagas e envia CV demonstra intenção maior que um clique frio em formulário.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4B6A4A78-CB5F-478C-8174-FD504435F631}"/>
              </a:ext>
            </a:extLst>
          </p:cNvPr>
          <p:cNvSpPr>
            <a:spLocks noGrp="1"/>
          </p:cNvSpPr>
          <p:nvPr/>
        </p:nvSpPr>
        <p:spPr>
          <a:xfrm>
            <a:off x="8077200" y="2419350"/>
            <a:ext cx="3238500" cy="2000250"/>
          </a:xfrm>
          <a:prstGeom prst="roundRect">
            <a:avLst>
              <a:gd name="adj" fmla="val 5714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FBE8338-FE70-479F-B2AE-8C5215337A9D}"/>
              </a:ext>
            </a:extLst>
          </p:cNvPr>
          <p:cNvSpPr>
            <a:spLocks noGrp="1"/>
          </p:cNvSpPr>
          <p:nvPr/>
        </p:nvSpPr>
        <p:spPr>
          <a:xfrm>
            <a:off x="8077200" y="2419350"/>
            <a:ext cx="57150" cy="2000250"/>
          </a:xfrm>
          <a:prstGeom prst="rect">
            <a:avLst/>
          </a:prstGeom>
          <a:solidFill>
            <a:srgbClr val="B85CFF"/>
          </a:solidFill>
          <a:ln>
            <a:solidFill>
              <a:srgbClr val="B85CFF"/>
            </a:solidFill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6440AC3F-A049-43E1-8E2F-6EB1A895BB07}"/>
              </a:ext>
            </a:extLst>
          </p:cNvPr>
          <p:cNvSpPr>
            <a:spLocks noGrp="1"/>
          </p:cNvSpPr>
          <p:nvPr/>
        </p:nvSpPr>
        <p:spPr>
          <a:xfrm>
            <a:off x="8286750" y="2590800"/>
            <a:ext cx="28765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Dados acionáveis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A4BBB1C-420E-429F-9FB3-53D19C668231}"/>
              </a:ext>
            </a:extLst>
          </p:cNvPr>
          <p:cNvSpPr>
            <a:spLocks noGrp="1"/>
          </p:cNvSpPr>
          <p:nvPr/>
        </p:nvSpPr>
        <p:spPr>
          <a:xfrm>
            <a:off x="8286750" y="2952750"/>
            <a:ext cx="2857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 painel transforma permanência, candidatura e match score em sinais úteis para priorizar conversas.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8B66267-488C-4570-B594-E9E54ADAACCC}"/>
              </a:ext>
            </a:extLst>
          </p:cNvPr>
          <p:cNvSpPr>
            <a:spLocks noGrp="1"/>
          </p:cNvSpPr>
          <p:nvPr/>
        </p:nvSpPr>
        <p:spPr>
          <a:xfrm>
            <a:off x="2000250" y="516255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Venda para RH: menos fricção, mais marca, melhores sinais.</a:t>
            </a:r>
          </a:p>
        </p:txBody>
      </p:sp>
    </p:spTree>
    <p:extLst>
      <p:ext uri="{BB962C8B-B14F-4D97-AF65-F5344CB8AC3E}">
        <p14:creationId xmlns:p14="http://schemas.microsoft.com/office/powerpoint/2010/main" val="106825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tângulo 50">
            <a:extLst>
              <a:ext uri="{FF2B5EF4-FFF2-40B4-BE49-F238E27FC236}">
                <a16:creationId xmlns:a16="http://schemas.microsoft.com/office/drawing/2014/main" id="{8DECBEC6-A387-4318-94AE-95D1E01509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7ED44BF-DA9B-40BE-B598-60BDC73C6A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2FCDE82-F6AC-4F4E-B1BA-C3424F7A3CE9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9BD47057-022C-42E7-ABDA-2E48C0E52982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C60710D1-6142-4C8A-836C-A0F5589B6BC3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982B94FF-34D8-4448-942D-8266A7A44AD9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CEA44AB5-1E96-49C7-A220-CB4F92B5D90F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01C00CF5-AA5E-435A-AEE8-062C996D1A94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0EFC1DD6-BEAD-4D6A-82D9-698FEC19578D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B67E2F03-7F9C-47D2-BCF3-4B195F233DDF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EF44A61C-78EC-4ACE-9466-B31DD037D663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BA1D86C2-10A0-4D9C-B304-A477676721E2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AE2E4D53-4F63-422A-92B9-C91B10A76702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A4E98B8-3F08-4D0B-9941-63D4443E90F3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A33551BE-EFEC-4A14-8B55-5B17147688C7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A5D601F7-A1A3-4113-9B13-08F8E402E17A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A961366E-70CA-4AF3-8CF1-025DA2C7D573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7321722F-C738-4D9B-A409-B553274BDBB0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8641A0CC-CD37-40C4-8837-FCF54ABE6B34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A7F3ACA8-5248-42AA-95B5-E826579009EC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C0434126-7452-45C5-9DFC-B59662CC60F7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0B86E59-D8A4-4567-A5D5-DEB09EC1B84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B65714B2-C769-4D88-803E-6C845CAB0AA3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A7F7A005-6608-4BFE-AA55-BE8224DB7CD2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55609D05-5AE0-4AE1-8A04-05E89AAFE951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C8566CBB-9171-4215-AEA5-251C5366B7C0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2E64E68C-57EE-48DF-8D93-A786CC9E9CC9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27BAEE10-0D7B-4849-8526-5D779EC3520A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9B79C14-56F4-4B22-B003-F4FA6FBA923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05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D83F45D-BB9B-4CC5-8C88-6DC14F3C3071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EXPERIÊNCIA DO CANDIDATO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E7F572D-4141-4801-AFE2-009D2E0D019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vaga deixa de ser texto e vira uma visita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6D9AE54-587C-49EF-88FA-F0F8CB550230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 dev não apenas lê sobre a empresa; ele entra, percebe a identidade e decide com mais contexto.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19436AA-F710-4AE2-A709-2A26FF8627EA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4762500" cy="2743200"/>
          </a:xfrm>
          <a:prstGeom prst="roundRect">
            <a:avLst>
              <a:gd name="adj" fmla="val 4861"/>
            </a:avLst>
          </a:prstGeom>
          <a:solidFill>
            <a:srgbClr val="0A1020"/>
          </a:solidFill>
          <a:ln w="9525">
            <a:solidFill>
              <a:srgbClr val="00D4FF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315D9B7A-1C52-42DC-9A64-97879C327427}"/>
              </a:ext>
            </a:extLst>
          </p:cNvPr>
          <p:cNvSpPr>
            <a:spLocks noGrp="1"/>
          </p:cNvSpPr>
          <p:nvPr/>
        </p:nvSpPr>
        <p:spPr>
          <a:xfrm>
            <a:off x="1295400" y="2609850"/>
            <a:ext cx="2095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6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Jornada do dev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8B562EC-D952-4E07-BA82-C95ABE9F25EE}"/>
              </a:ext>
            </a:extLst>
          </p:cNvPr>
          <p:cNvSpPr>
            <a:spLocks noGrp="1"/>
          </p:cNvSpPr>
          <p:nvPr/>
        </p:nvSpPr>
        <p:spPr>
          <a:xfrm>
            <a:off x="1781175" y="3409950"/>
            <a:ext cx="819150" cy="533400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9525">
            <a:solidFill>
              <a:srgbClr val="00D4FF"/>
            </a:solidFill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EA572358-9F32-4801-B774-3772F3E4304A}"/>
              </a:ext>
            </a:extLst>
          </p:cNvPr>
          <p:cNvSpPr>
            <a:spLocks noGrp="1"/>
          </p:cNvSpPr>
          <p:nvPr/>
        </p:nvSpPr>
        <p:spPr>
          <a:xfrm>
            <a:off x="1847850" y="360045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Lobby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6176A1C-91C8-484E-9607-89B489DB0A1F}"/>
              </a:ext>
            </a:extLst>
          </p:cNvPr>
          <p:cNvSpPr>
            <a:spLocks noGrp="1"/>
          </p:cNvSpPr>
          <p:nvPr/>
        </p:nvSpPr>
        <p:spPr>
          <a:xfrm>
            <a:off x="3019425" y="2876550"/>
            <a:ext cx="819150" cy="533400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9525">
            <a:solidFill>
              <a:srgbClr val="B85CFF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53E66B6E-706E-4C90-B3F6-F9F460CD2A31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Sala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61CD7A3D-B3CD-4BE9-8DAB-9C75E7948599}"/>
              </a:ext>
            </a:extLst>
          </p:cNvPr>
          <p:cNvSpPr>
            <a:spLocks noGrp="1"/>
          </p:cNvSpPr>
          <p:nvPr/>
        </p:nvSpPr>
        <p:spPr>
          <a:xfrm>
            <a:off x="4067175" y="3638550"/>
            <a:ext cx="819150" cy="533400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9525">
            <a:solidFill>
              <a:srgbClr val="30F26B"/>
            </a:solidFill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836634FE-6407-4D0A-B459-400EA37D6FF9}"/>
              </a:ext>
            </a:extLst>
          </p:cNvPr>
          <p:cNvSpPr>
            <a:spLocks noGrp="1"/>
          </p:cNvSpPr>
          <p:nvPr/>
        </p:nvSpPr>
        <p:spPr>
          <a:xfrm>
            <a:off x="4133850" y="382905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Vaga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9B6E9E21-59DC-4D14-8357-DE0F81D7613D}"/>
              </a:ext>
            </a:extLst>
          </p:cNvPr>
          <p:cNvSpPr>
            <a:spLocks noGrp="1"/>
          </p:cNvSpPr>
          <p:nvPr/>
        </p:nvSpPr>
        <p:spPr>
          <a:xfrm>
            <a:off x="2733675" y="4267200"/>
            <a:ext cx="819150" cy="533400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9525">
            <a:solidFill>
              <a:srgbClr val="FF4B91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05EC356-8178-4A9E-B97A-07B5C7284466}"/>
              </a:ext>
            </a:extLst>
          </p:cNvPr>
          <p:cNvSpPr>
            <a:spLocks noGrp="1"/>
          </p:cNvSpPr>
          <p:nvPr/>
        </p:nvSpPr>
        <p:spPr>
          <a:xfrm>
            <a:off x="2800350" y="4457700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FF4B9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4B91"/>
                </a:solidFill>
                <a:latin typeface="Aptos"/>
                <a:ea typeface="Aptos"/>
                <a:cs typeface="Aptos"/>
              </a:rPr>
              <a:t>CV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F49E0313-0CDB-404B-AAFA-CFE93BC51DC8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409575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F1FF9DA-F48D-4E3F-B8FB-A0DE036BC62F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57150" cy="102870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9BD77B0-3B42-4A94-9E09-389B4C2CDCF9}"/>
              </a:ext>
            </a:extLst>
          </p:cNvPr>
          <p:cNvSpPr>
            <a:spLocks noGrp="1"/>
          </p:cNvSpPr>
          <p:nvPr/>
        </p:nvSpPr>
        <p:spPr>
          <a:xfrm>
            <a:off x="6686550" y="2590800"/>
            <a:ext cx="3733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Ganho para o dev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F8EB33AB-9375-4F86-AE83-CCF23765EDA3}"/>
              </a:ext>
            </a:extLst>
          </p:cNvPr>
          <p:cNvSpPr>
            <a:spLocks noGrp="1"/>
          </p:cNvSpPr>
          <p:nvPr/>
        </p:nvSpPr>
        <p:spPr>
          <a:xfrm>
            <a:off x="6686550" y="295275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Entender cultura, stack e vagas com mais clareza antes de se expor em um processo seletivo.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506C24F-A8E6-4DCC-8731-38AA2ED485BA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409575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35254B10-3940-451A-B575-BF1D9E1E97E6}"/>
              </a:ext>
            </a:extLst>
          </p:cNvPr>
          <p:cNvSpPr>
            <a:spLocks noGrp="1"/>
          </p:cNvSpPr>
          <p:nvPr/>
        </p:nvSpPr>
        <p:spPr>
          <a:xfrm>
            <a:off x="6477000" y="3695700"/>
            <a:ext cx="57150" cy="10287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6F620E53-D44D-4CF6-AEAF-427D4E542C46}"/>
              </a:ext>
            </a:extLst>
          </p:cNvPr>
          <p:cNvSpPr>
            <a:spLocks noGrp="1"/>
          </p:cNvSpPr>
          <p:nvPr/>
        </p:nvSpPr>
        <p:spPr>
          <a:xfrm>
            <a:off x="6686550" y="3867150"/>
            <a:ext cx="37338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Ganho para o evento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7D5D9713-EFB3-48C1-9557-C3EAA76BF2D8}"/>
              </a:ext>
            </a:extLst>
          </p:cNvPr>
          <p:cNvSpPr>
            <a:spLocks noGrp="1"/>
          </p:cNvSpPr>
          <p:nvPr/>
        </p:nvSpPr>
        <p:spPr>
          <a:xfrm>
            <a:off x="6686550" y="4229100"/>
            <a:ext cx="37147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Uma experiência memorável para feiras, bootcamps, residências tech e programas de talentos.</a:t>
            </a:r>
          </a:p>
        </p:txBody>
      </p:sp>
    </p:spTree>
    <p:extLst>
      <p:ext uri="{BB962C8B-B14F-4D97-AF65-F5344CB8AC3E}">
        <p14:creationId xmlns:p14="http://schemas.microsoft.com/office/powerpoint/2010/main" val="3667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tângulo 56">
            <a:extLst>
              <a:ext uri="{FF2B5EF4-FFF2-40B4-BE49-F238E27FC236}">
                <a16:creationId xmlns:a16="http://schemas.microsoft.com/office/drawing/2014/main" id="{98BC920C-75C4-4D1A-9C32-AA175CB696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8BDD77A-5AF7-45D5-AE4C-716DFF78D5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5DD62CBB-01E1-489C-911F-45CB3C55C122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7A4C9377-50A1-4B52-A505-9EC30473C054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A0453E25-6EB3-4BFB-96E8-B75F16C85B58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7D82E97E-331A-43BF-A97E-F306552F25DE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70C113A1-C1D4-4E98-8C5D-EDF94EF9513E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AAE9156-4958-4548-92F2-3BCC7E4B5B9D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016916B7-9065-4A2F-8C4A-F5CD937F8C0B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54D71709-B5BC-4B00-B132-DAE3F24A6AE3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E35034A7-DCF9-41EC-BBF9-677A7B7B790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6C054107-5035-4446-80E1-6B90B9B1CAB5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B46A85EE-AC76-4449-8B8C-D9F782D433AB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5E9B9E0F-71A8-46D8-97F3-4DE656C82F03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21701C9E-E6C1-474D-BFA7-4BA9840996C8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DB616969-5971-4B2C-AC8D-AA79F6302C47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021B6474-1B55-4153-A630-333A23BB90C8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93B48DAC-D8BC-46F5-81EE-D31492707774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F0859932-6AAE-46C1-B32F-4D4EBD720BE8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B1100DE6-FA87-499B-B88E-F11FF5418F10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87022A55-BC03-4602-B78E-25B62F40A497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1CE4C680-817D-4F4E-B28B-39B794C4A3C4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1111BB2D-AE5F-4904-9D4A-94A81DEF6F84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8C86E7E3-ADF3-4969-B0E4-5FC787766B55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3C4855D2-2DD2-4794-8852-AFD4FECE2C91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0FE5D816-FFBE-4522-A99F-A616159A308F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988CF4FE-2F98-48D1-87D5-80417C743C6C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51CC2C57-72C9-4CDF-8C3A-D55835ACA36A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D689A60-47EA-43B9-A465-3C07DB3BD36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06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44620E3-65AA-4025-A480-651610659FE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PRODUTO VENDÁVEL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7E8391C-E7AA-48C0-AA7A-2CA6B1350D7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MVP já entrega a promessa central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05FCB0B-AFD0-44F2-AA38-74CDEEA1391A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Não é conceito. É uma aplicação navegável, interativa e publicada.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41B7514-3AE5-4EAE-B208-C4741BB8B8B7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B87984E-EC85-4873-9D47-B2F3D6C69091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57150" cy="10287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858CC0A-31FB-4E3A-A380-536A97992E6F}"/>
              </a:ext>
            </a:extLst>
          </p:cNvPr>
          <p:cNvSpPr>
            <a:spLocks noGrp="1"/>
          </p:cNvSpPr>
          <p:nvPr/>
        </p:nvSpPr>
        <p:spPr>
          <a:xfrm>
            <a:off x="1085850" y="25336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Lobby 3D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1D23610-C3F0-4DF5-8B06-674A5841D8C3}"/>
              </a:ext>
            </a:extLst>
          </p:cNvPr>
          <p:cNvSpPr>
            <a:spLocks noGrp="1"/>
          </p:cNvSpPr>
          <p:nvPr/>
        </p:nvSpPr>
        <p:spPr>
          <a:xfrm>
            <a:off x="1085850" y="289560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Ambiente navegável com estandes de empresas.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DD6EFEB-1D51-4BC4-A331-423535451100}"/>
              </a:ext>
            </a:extLst>
          </p:cNvPr>
          <p:cNvSpPr>
            <a:spLocks noGrp="1"/>
          </p:cNvSpPr>
          <p:nvPr/>
        </p:nvSpPr>
        <p:spPr>
          <a:xfrm>
            <a:off x="4495800" y="236220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EF25FA51-2005-43D4-B064-D6AA91288186}"/>
              </a:ext>
            </a:extLst>
          </p:cNvPr>
          <p:cNvSpPr>
            <a:spLocks noGrp="1"/>
          </p:cNvSpPr>
          <p:nvPr/>
        </p:nvSpPr>
        <p:spPr>
          <a:xfrm>
            <a:off x="4495800" y="2362200"/>
            <a:ext cx="57150" cy="1028700"/>
          </a:xfrm>
          <a:prstGeom prst="rect">
            <a:avLst/>
          </a:prstGeom>
          <a:solidFill>
            <a:srgbClr val="B85CFF"/>
          </a:solidFill>
          <a:ln>
            <a:solidFill>
              <a:srgbClr val="B85CFF"/>
            </a:solidFill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DA49346-4076-446E-8F44-83E23ABD2478}"/>
              </a:ext>
            </a:extLst>
          </p:cNvPr>
          <p:cNvSpPr>
            <a:spLocks noGrp="1"/>
          </p:cNvSpPr>
          <p:nvPr/>
        </p:nvSpPr>
        <p:spPr>
          <a:xfrm>
            <a:off x="4705350" y="25336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Salas internas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4FC32975-0292-410B-96C8-D88BEEDBCFED}"/>
              </a:ext>
            </a:extLst>
          </p:cNvPr>
          <p:cNvSpPr>
            <a:spLocks noGrp="1"/>
          </p:cNvSpPr>
          <p:nvPr/>
        </p:nvSpPr>
        <p:spPr>
          <a:xfrm>
            <a:off x="4705350" y="289560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Experiência própria por empresa.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8BD410D-3AEF-4E1B-8EDB-CBFFC044FA69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62C9B0C-75C2-4FF3-A043-9E0A2BE7CA7F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57150" cy="102870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8D488DBB-2AEE-406A-9EA9-EF40083F1EF7}"/>
              </a:ext>
            </a:extLst>
          </p:cNvPr>
          <p:cNvSpPr>
            <a:spLocks noGrp="1"/>
          </p:cNvSpPr>
          <p:nvPr/>
        </p:nvSpPr>
        <p:spPr>
          <a:xfrm>
            <a:off x="8324850" y="25336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Candidatura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D4BF9C01-673C-41F8-B09D-A4B83ACA8714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CV simplificado e envio por vaga.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18AEF27-1360-464C-AFC6-C7ACF34FFFC7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EDCDF635-41D5-4DDA-8CD0-49CD6775D6CC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57150" cy="1028700"/>
          </a:xfrm>
          <a:prstGeom prst="rect">
            <a:avLst/>
          </a:prstGeom>
          <a:solidFill>
            <a:srgbClr val="FF4B91"/>
          </a:solidFill>
          <a:ln>
            <a:solidFill>
              <a:srgbClr val="FF4B91"/>
            </a:solidFill>
          </a:ln>
        </p:spPr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1324C958-D652-4169-AE8C-096CCA1A232C}"/>
              </a:ext>
            </a:extLst>
          </p:cNvPr>
          <p:cNvSpPr>
            <a:spLocks noGrp="1"/>
          </p:cNvSpPr>
          <p:nvPr/>
        </p:nvSpPr>
        <p:spPr>
          <a:xfrm>
            <a:off x="1085850" y="396240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FF4B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4B91"/>
                </a:solidFill>
                <a:latin typeface="Aptos"/>
                <a:ea typeface="Aptos"/>
                <a:cs typeface="Aptos"/>
              </a:rPr>
              <a:t>Match score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4FA6D168-EC0F-4E37-8CF4-5C22E32F9F00}"/>
              </a:ext>
            </a:extLst>
          </p:cNvPr>
          <p:cNvSpPr>
            <a:spLocks noGrp="1"/>
          </p:cNvSpPr>
          <p:nvPr/>
        </p:nvSpPr>
        <p:spPr>
          <a:xfrm>
            <a:off x="1085850" y="43243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Pontuação heurística com insights.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6163298D-CABF-449C-8858-6A3FBE72D043}"/>
              </a:ext>
            </a:extLst>
          </p:cNvPr>
          <p:cNvSpPr>
            <a:spLocks noGrp="1"/>
          </p:cNvSpPr>
          <p:nvPr/>
        </p:nvSpPr>
        <p:spPr>
          <a:xfrm>
            <a:off x="4495800" y="379095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53D023D4-24D7-48D2-A608-94460AF3AB33}"/>
              </a:ext>
            </a:extLst>
          </p:cNvPr>
          <p:cNvSpPr>
            <a:spLocks noGrp="1"/>
          </p:cNvSpPr>
          <p:nvPr/>
        </p:nvSpPr>
        <p:spPr>
          <a:xfrm>
            <a:off x="4495800" y="3790950"/>
            <a:ext cx="57150" cy="1028700"/>
          </a:xfrm>
          <a:prstGeom prst="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49E42E2F-06BA-475D-914D-461188083FC7}"/>
              </a:ext>
            </a:extLst>
          </p:cNvPr>
          <p:cNvSpPr>
            <a:spLocks noGrp="1"/>
          </p:cNvSpPr>
          <p:nvPr/>
        </p:nvSpPr>
        <p:spPr>
          <a:xfrm>
            <a:off x="4705350" y="396240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Multiplayer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5622F0F8-9254-4F5A-8AD4-100252A8A33C}"/>
              </a:ext>
            </a:extLst>
          </p:cNvPr>
          <p:cNvSpPr>
            <a:spLocks noGrp="1"/>
          </p:cNvSpPr>
          <p:nvPr/>
        </p:nvSpPr>
        <p:spPr>
          <a:xfrm>
            <a:off x="4705350" y="43243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Avatares remotos via Broadcast.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9EF0FAB1-E1D0-4A24-A49D-859E8D6DE226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3048000" cy="102870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BAF711BB-45EA-4E76-900A-E2A1345597A3}"/>
              </a:ext>
            </a:extLst>
          </p:cNvPr>
          <p:cNvSpPr>
            <a:spLocks noGrp="1"/>
          </p:cNvSpPr>
          <p:nvPr/>
        </p:nvSpPr>
        <p:spPr>
          <a:xfrm>
            <a:off x="8115300" y="3790950"/>
            <a:ext cx="57150" cy="10287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8105EC69-2F60-4057-8046-294B6159468E}"/>
              </a:ext>
            </a:extLst>
          </p:cNvPr>
          <p:cNvSpPr>
            <a:spLocks noGrp="1"/>
          </p:cNvSpPr>
          <p:nvPr/>
        </p:nvSpPr>
        <p:spPr>
          <a:xfrm>
            <a:off x="8324850" y="396240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BC6EF65A-9944-45A7-BA76-46877BA7CD9E}"/>
              </a:ext>
            </a:extLst>
          </p:cNvPr>
          <p:cNvSpPr>
            <a:spLocks noGrp="1"/>
          </p:cNvSpPr>
          <p:nvPr/>
        </p:nvSpPr>
        <p:spPr>
          <a:xfrm>
            <a:off x="8324850" y="4324350"/>
            <a:ext cx="2667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CVs, heatmap e indicadores B2B.</a:t>
            </a:r>
          </a:p>
        </p:txBody>
      </p:sp>
    </p:spTree>
    <p:extLst>
      <p:ext uri="{BB962C8B-B14F-4D97-AF65-F5344CB8AC3E}">
        <p14:creationId xmlns:p14="http://schemas.microsoft.com/office/powerpoint/2010/main" val="35406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DB9A9611-2B87-49CA-9F28-449EB01A27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BC9E5B6-4BCD-4806-BE1A-9AF57D485F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37BBF4BC-8DBD-44B9-A247-7D75DE059282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84182A57-1078-46FF-B9E3-ED1288585097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7C86F999-EEE7-4EB8-A744-A41DB4C4A002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8361DE02-9117-4FDF-8299-DD5BE07107A6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8DA2B567-D0AA-4D0C-B673-03113F7F952D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98FAB28-35C3-4B2F-9EE6-93993D963EED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B58E82BC-6F99-443A-A327-1464B65B941F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0A0AF9E6-BA9D-40AE-8574-F9049C68748E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10A46E45-A347-43EA-B5BA-3C03DD735BFB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535D5A02-3ECB-4A7B-BAF0-4880CFACE4A6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F9D0E4D0-7AD7-4038-8530-1C78F35FD211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06A27EE4-9C02-45A9-8182-EB9F186FC4BB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507D43FD-E1FF-4073-A4D5-2ADCA0DC6695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E07FA928-5F05-4FB0-B030-378AAD58776A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45BFD8CC-68B9-4AC9-BB26-0F32D0FCFCDD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4ED5B597-378D-4D4C-9D7E-607F975E4F30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09AB1E80-8E01-4EEF-8D3B-59CE6E9F0C2F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A2A993E1-99FD-4701-9A0F-5D0027DC2709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2AA34F07-9FE8-4FE1-8305-31BAFBE5BD84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447BE833-D652-4DC8-BF96-01AF777C4631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9B4DBE0C-72A3-4FA4-89FC-1426F4044CCC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ED89BF95-23AC-4F03-8CC7-C65E99B4AD2E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7A54910D-6720-4EA1-A418-D8458E224A87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02C44BB2-EBF2-4C52-A6D8-60642E1256B8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A59E6336-0F8F-4EE5-802B-B3E3D3F436E8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DEC42DB8-D963-456F-A306-914AEED4ADCE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0049EE4-01C9-42D6-AD31-6A01CD539FE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07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A8ED406-C274-45C1-B07A-2B03C24E577E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MODELO DE USO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373E8E5-AFD7-404F-BDFE-823D67733BB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Onde o JobVerse entra no mundo real?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9A7B5B3-F85A-4A08-B6DB-DB108FBA9042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 produto pode ser usado como feira, vitrine de carreira ou camada imersiva para programas de talentos.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0792BB2-52A4-4310-8FA4-F0B3BFF29FF4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3048000" cy="213360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65B2E36F-1F87-4C08-808A-FF102C2025F7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57150" cy="213360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8F939954-4AA5-4482-92E3-47312065CEDC}"/>
              </a:ext>
            </a:extLst>
          </p:cNvPr>
          <p:cNvSpPr>
            <a:spLocks noGrp="1"/>
          </p:cNvSpPr>
          <p:nvPr/>
        </p:nvSpPr>
        <p:spPr>
          <a:xfrm>
            <a:off x="1123950" y="26479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Eventos tech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E4C9D93-00FB-41A0-AC9F-E9998F1FCB13}"/>
              </a:ext>
            </a:extLst>
          </p:cNvPr>
          <p:cNvSpPr>
            <a:spLocks noGrp="1"/>
          </p:cNvSpPr>
          <p:nvPr/>
        </p:nvSpPr>
        <p:spPr>
          <a:xfrm>
            <a:off x="1123950" y="3009900"/>
            <a:ext cx="266700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Feiras de carreira online, hackathons, bootcamps, universidades e programas de residência.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9B743B4-2CD8-4D5F-B788-5593B78C23BA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3048000" cy="213360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113CB5E-A1A3-44D1-92C1-94A57F63FEEC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57150" cy="2133600"/>
          </a:xfrm>
          <a:prstGeom prst="rect">
            <a:avLst/>
          </a:prstGeom>
          <a:solidFill>
            <a:srgbClr val="B85CFF"/>
          </a:solidFill>
          <a:ln>
            <a:solidFill>
              <a:srgbClr val="B85CFF"/>
            </a:solidFill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EB41643-8AD9-4105-95B5-CD360184E0DB}"/>
              </a:ext>
            </a:extLst>
          </p:cNvPr>
          <p:cNvSpPr>
            <a:spLocks noGrp="1"/>
          </p:cNvSpPr>
          <p:nvPr/>
        </p:nvSpPr>
        <p:spPr>
          <a:xfrm>
            <a:off x="4781550" y="26479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Empresas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6231062-B8D5-4435-A844-25404F3315D2}"/>
              </a:ext>
            </a:extLst>
          </p:cNvPr>
          <p:cNvSpPr>
            <a:spLocks noGrp="1"/>
          </p:cNvSpPr>
          <p:nvPr/>
        </p:nvSpPr>
        <p:spPr>
          <a:xfrm>
            <a:off x="4781550" y="3009900"/>
            <a:ext cx="266700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Página de carreiras 3D para reforçar cultura, stack e vagas estratégicas.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A1281E2-F8E3-451E-9539-7304670EE4B1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3048000" cy="2133600"/>
          </a:xfrm>
          <a:prstGeom prst="roundRect">
            <a:avLst>
              <a:gd name="adj" fmla="val 5357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C5B71FE-8A5B-4003-B834-F1C289D096BE}"/>
              </a:ext>
            </a:extLst>
          </p:cNvPr>
          <p:cNvSpPr>
            <a:spLocks noGrp="1"/>
          </p:cNvSpPr>
          <p:nvPr/>
        </p:nvSpPr>
        <p:spPr>
          <a:xfrm>
            <a:off x="8229600" y="2476500"/>
            <a:ext cx="57150" cy="213360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5156582-0691-4340-876F-EA0EA3E3DF1C}"/>
              </a:ext>
            </a:extLst>
          </p:cNvPr>
          <p:cNvSpPr>
            <a:spLocks noGrp="1"/>
          </p:cNvSpPr>
          <p:nvPr/>
        </p:nvSpPr>
        <p:spPr>
          <a:xfrm>
            <a:off x="8439150" y="26479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Comunidades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3DC7B52-7393-48DE-84F5-CB34A2DD17C2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2667000" cy="1466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Ambientes patrocinados para conectar devs, empresas parceiras e oportunidades.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7F693FB5-D9C3-4FC4-8983-924C42480E2B}"/>
              </a:ext>
            </a:extLst>
          </p:cNvPr>
          <p:cNvSpPr>
            <a:spLocks noGrp="1"/>
          </p:cNvSpPr>
          <p:nvPr/>
        </p:nvSpPr>
        <p:spPr>
          <a:xfrm>
            <a:off x="1428750" y="525780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Primeiro cliente ideal: um evento ou programa tech com empresas parceiras e muitos candidatos.</a:t>
            </a:r>
          </a:p>
        </p:txBody>
      </p:sp>
    </p:spTree>
    <p:extLst>
      <p:ext uri="{BB962C8B-B14F-4D97-AF65-F5344CB8AC3E}">
        <p14:creationId xmlns:p14="http://schemas.microsoft.com/office/powerpoint/2010/main" val="39199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tângulo 61">
            <a:extLst>
              <a:ext uri="{FF2B5EF4-FFF2-40B4-BE49-F238E27FC236}">
                <a16:creationId xmlns:a16="http://schemas.microsoft.com/office/drawing/2014/main" id="{55F60F10-ABBE-4438-AD8D-CA7C286669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C9C5513-D151-4B39-B6B9-971555B7EB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90EF3E85-7537-4A89-B974-C388E78FE774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382E7E63-7D7C-4D8B-81B6-9A53210D7264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700F98D3-9CE5-48B4-87EE-490BE882E048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5E2E1ABA-4DEC-4C21-9486-5DA2D3B3E630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097B70AF-BE21-461B-9561-8ADF66369284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106FD155-44C2-4F2A-AD8A-758F3A29A344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5476B39E-8D1A-4D35-B8D1-1AD101BD0481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EAB36920-9C5A-4512-B6DE-285F14A122D8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BABEDC81-58E0-492C-940D-CACC20A28F2D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33458FEC-EA8E-4CC5-9ECB-470AC9BB9A49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D6B2FC33-878C-4E3F-BAAB-21751E43C74A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1EADE179-C2F0-462F-8743-02586C9AD339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5A8BB892-8F5C-4425-9F19-EADD3F296126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4504C5EA-D763-4E53-98FD-BA6E3607B8DD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CCAE2AED-3170-4526-B186-9F3DA8A5A939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89F59730-3105-4ACB-8E59-DAE683A23230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036C864B-FAC8-4320-A301-845A2AD35BA6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1E4DFD18-66C0-446A-8DBC-00B5BC9347AB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E12A3B1E-CCF4-463C-B39C-F29224B88375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E9FF0FB-3BED-414A-A181-4AD74BC6C40D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8443506D-1367-44CB-AD75-DC7996C2F1BA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90A78D46-19EC-4A98-8804-A9C6D8308811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E5EE733A-E047-4B51-8984-D8DA4FDBF12D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AEF75936-6D01-41BC-80CC-5DAE2E905622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6D1AA483-1FE7-4191-897F-388E93803C44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D2610CD8-A9B3-45AF-9E23-8F6A8C852C76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A69D7877-4454-4313-88BE-316836A23BA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08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E7A7FB8-5B7A-4847-8FF9-6194C43AF4FF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DIFERENCIAÇÃO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220B74B-0A44-4404-B449-4D190247A8F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JobVerse ocupa um espaço que ATS e LinkedIn não cobrem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01BCEC66-EEDE-477D-A145-AC2BE3C7B993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 proposta não substitui plataformas existentes; ela melhora a etapa de descoberta e encantamento.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46399FE-E366-491E-B6E3-7597559465F6}"/>
              </a:ext>
            </a:extLst>
          </p:cNvPr>
          <p:cNvSpPr>
            <a:spLocks noGrp="1"/>
          </p:cNvSpPr>
          <p:nvPr/>
        </p:nvSpPr>
        <p:spPr>
          <a:xfrm>
            <a:off x="2190750" y="22669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44A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43AF688-A7AE-40B9-A374-4D3BE26F431F}"/>
              </a:ext>
            </a:extLst>
          </p:cNvPr>
          <p:cNvSpPr>
            <a:spLocks noGrp="1"/>
          </p:cNvSpPr>
          <p:nvPr/>
        </p:nvSpPr>
        <p:spPr>
          <a:xfrm>
            <a:off x="2343150" y="2419350"/>
            <a:ext cx="15049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56CEBB44-3056-4AB3-AFE5-3EE090A4262B}"/>
              </a:ext>
            </a:extLst>
          </p:cNvPr>
          <p:cNvSpPr>
            <a:spLocks noGrp="1"/>
          </p:cNvSpPr>
          <p:nvPr/>
        </p:nvSpPr>
        <p:spPr>
          <a:xfrm>
            <a:off x="4286250" y="22669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44A"/>
            </a:solidFill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FAEB662-4C73-4111-8AC5-A4ABFD1339AB}"/>
              </a:ext>
            </a:extLst>
          </p:cNvPr>
          <p:cNvSpPr>
            <a:spLocks noGrp="1"/>
          </p:cNvSpPr>
          <p:nvPr/>
        </p:nvSpPr>
        <p:spPr>
          <a:xfrm>
            <a:off x="4438650" y="2419350"/>
            <a:ext cx="15049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Página careers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A62F3C1-6F01-4E5B-AB92-E3A89B339916}"/>
              </a:ext>
            </a:extLst>
          </p:cNvPr>
          <p:cNvSpPr>
            <a:spLocks noGrp="1"/>
          </p:cNvSpPr>
          <p:nvPr/>
        </p:nvSpPr>
        <p:spPr>
          <a:xfrm>
            <a:off x="6381750" y="22669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111827"/>
          </a:solidFill>
          <a:ln w="9525">
            <a:solidFill>
              <a:srgbClr val="2B344A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A5F53D7-CCAC-4A13-BA71-BE7D6D475E12}"/>
              </a:ext>
            </a:extLst>
          </p:cNvPr>
          <p:cNvSpPr>
            <a:spLocks noGrp="1"/>
          </p:cNvSpPr>
          <p:nvPr/>
        </p:nvSpPr>
        <p:spPr>
          <a:xfrm>
            <a:off x="6534150" y="2419350"/>
            <a:ext cx="15049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8B3C7"/>
                </a:solidFill>
                <a:latin typeface="Aptos"/>
                <a:ea typeface="Aptos"/>
                <a:cs typeface="Aptos"/>
              </a:rPr>
              <a:t>Feira física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C3FB3D56-BFB7-4FF7-980B-0B74CF74494C}"/>
              </a:ext>
            </a:extLst>
          </p:cNvPr>
          <p:cNvSpPr>
            <a:spLocks noGrp="1"/>
          </p:cNvSpPr>
          <p:nvPr/>
        </p:nvSpPr>
        <p:spPr>
          <a:xfrm>
            <a:off x="8477250" y="2266950"/>
            <a:ext cx="1809750" cy="495300"/>
          </a:xfrm>
          <a:prstGeom prst="roundRect">
            <a:avLst>
              <a:gd name="adj" fmla="val 15385"/>
            </a:avLst>
          </a:prstGeom>
          <a:solidFill>
            <a:srgbClr val="211034"/>
          </a:solidFill>
          <a:ln w="9525">
            <a:solidFill>
              <a:srgbClr val="B85CFF"/>
            </a:solidFill>
          </a:ln>
        </p:spPr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9B13C02-2114-45BF-A055-0FC3E67E8381}"/>
              </a:ext>
            </a:extLst>
          </p:cNvPr>
          <p:cNvSpPr>
            <a:spLocks noGrp="1"/>
          </p:cNvSpPr>
          <p:nvPr/>
        </p:nvSpPr>
        <p:spPr>
          <a:xfrm>
            <a:off x="8629650" y="2419350"/>
            <a:ext cx="15049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JobVerse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35511D5-5062-43F1-ADCB-59361D0396C2}"/>
              </a:ext>
            </a:extLst>
          </p:cNvPr>
          <p:cNvSpPr>
            <a:spLocks noGrp="1"/>
          </p:cNvSpPr>
          <p:nvPr/>
        </p:nvSpPr>
        <p:spPr>
          <a:xfrm>
            <a:off x="876300" y="317182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Imersão de marca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4ADCE89F-D553-447F-83F2-A37A61C93822}"/>
              </a:ext>
            </a:extLst>
          </p:cNvPr>
          <p:cNvSpPr>
            <a:spLocks noGrp="1"/>
          </p:cNvSpPr>
          <p:nvPr/>
        </p:nvSpPr>
        <p:spPr>
          <a:xfrm>
            <a:off x="2400300" y="31718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baixa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39C36D56-FA75-45BC-B1B4-6474262B1F76}"/>
              </a:ext>
            </a:extLst>
          </p:cNvPr>
          <p:cNvSpPr>
            <a:spLocks noGrp="1"/>
          </p:cNvSpPr>
          <p:nvPr/>
        </p:nvSpPr>
        <p:spPr>
          <a:xfrm>
            <a:off x="4495800" y="31718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média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A194420E-FD07-4EFF-832F-8D72F222DED3}"/>
              </a:ext>
            </a:extLst>
          </p:cNvPr>
          <p:cNvSpPr>
            <a:spLocks noGrp="1"/>
          </p:cNvSpPr>
          <p:nvPr/>
        </p:nvSpPr>
        <p:spPr>
          <a:xfrm>
            <a:off x="6591300" y="31718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3A81CE0-783C-48BF-ABDA-1AB544B5B3C2}"/>
              </a:ext>
            </a:extLst>
          </p:cNvPr>
          <p:cNvSpPr>
            <a:spLocks noGrp="1"/>
          </p:cNvSpPr>
          <p:nvPr/>
        </p:nvSpPr>
        <p:spPr>
          <a:xfrm>
            <a:off x="8686800" y="31718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C19BF148-6583-465F-A014-BC7FF3D370DD}"/>
              </a:ext>
            </a:extLst>
          </p:cNvPr>
          <p:cNvSpPr>
            <a:spLocks noGrp="1"/>
          </p:cNvSpPr>
          <p:nvPr/>
        </p:nvSpPr>
        <p:spPr>
          <a:xfrm>
            <a:off x="876300" y="370522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Escala remota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86BC523-6D20-4EEC-BF70-6BAB8EE96CE4}"/>
              </a:ext>
            </a:extLst>
          </p:cNvPr>
          <p:cNvSpPr>
            <a:spLocks noGrp="1"/>
          </p:cNvSpPr>
          <p:nvPr/>
        </p:nvSpPr>
        <p:spPr>
          <a:xfrm>
            <a:off x="2400300" y="37052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8287D085-ACE0-4E99-93B5-52B9099384D4}"/>
              </a:ext>
            </a:extLst>
          </p:cNvPr>
          <p:cNvSpPr>
            <a:spLocks noGrp="1"/>
          </p:cNvSpPr>
          <p:nvPr/>
        </p:nvSpPr>
        <p:spPr>
          <a:xfrm>
            <a:off x="4495800" y="37052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B6220162-6C54-4921-BBB7-F63CABFEE80F}"/>
              </a:ext>
            </a:extLst>
          </p:cNvPr>
          <p:cNvSpPr>
            <a:spLocks noGrp="1"/>
          </p:cNvSpPr>
          <p:nvPr/>
        </p:nvSpPr>
        <p:spPr>
          <a:xfrm>
            <a:off x="6591300" y="37052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baixa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7A26390E-FBA5-433A-B82B-8F8281D12531}"/>
              </a:ext>
            </a:extLst>
          </p:cNvPr>
          <p:cNvSpPr>
            <a:spLocks noGrp="1"/>
          </p:cNvSpPr>
          <p:nvPr/>
        </p:nvSpPr>
        <p:spPr>
          <a:xfrm>
            <a:off x="8686800" y="37052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D878EB6C-3420-4EA2-BC53-28994C14FFBF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Dados de intenção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3E5BC87F-9475-4623-96FA-87D5B05EF7E2}"/>
              </a:ext>
            </a:extLst>
          </p:cNvPr>
          <p:cNvSpPr>
            <a:spLocks noGrp="1"/>
          </p:cNvSpPr>
          <p:nvPr/>
        </p:nvSpPr>
        <p:spPr>
          <a:xfrm>
            <a:off x="2400300" y="42386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médios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4CEFD9BC-1B4A-4BDA-87C4-72B682339CD9}"/>
              </a:ext>
            </a:extLst>
          </p:cNvPr>
          <p:cNvSpPr>
            <a:spLocks noGrp="1"/>
          </p:cNvSpPr>
          <p:nvPr/>
        </p:nvSpPr>
        <p:spPr>
          <a:xfrm>
            <a:off x="4495800" y="42386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baixos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117511BC-6A12-4228-905D-FCE45E528DBC}"/>
              </a:ext>
            </a:extLst>
          </p:cNvPr>
          <p:cNvSpPr>
            <a:spLocks noGrp="1"/>
          </p:cNvSpPr>
          <p:nvPr/>
        </p:nvSpPr>
        <p:spPr>
          <a:xfrm>
            <a:off x="6591300" y="42386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parciais</a:t>
            </a:r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5943CADD-7DE4-482C-A4AC-ED7D11020282}"/>
              </a:ext>
            </a:extLst>
          </p:cNvPr>
          <p:cNvSpPr>
            <a:spLocks noGrp="1"/>
          </p:cNvSpPr>
          <p:nvPr/>
        </p:nvSpPr>
        <p:spPr>
          <a:xfrm>
            <a:off x="8686800" y="42386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altos</a:t>
            </a:r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0ABD3817-D78E-47E7-9C99-7E25AB53BDC4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276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Experiência memorável</a:t>
            </a:r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3408111D-F68D-4EDD-8B2F-7F9F03789789}"/>
              </a:ext>
            </a:extLst>
          </p:cNvPr>
          <p:cNvSpPr>
            <a:spLocks noGrp="1"/>
          </p:cNvSpPr>
          <p:nvPr/>
        </p:nvSpPr>
        <p:spPr>
          <a:xfrm>
            <a:off x="2400300" y="47720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baixa</a:t>
            </a:r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E7BEEFBF-A47B-4889-9C0A-8DCC69C45F3F}"/>
              </a:ext>
            </a:extLst>
          </p:cNvPr>
          <p:cNvSpPr>
            <a:spLocks noGrp="1"/>
          </p:cNvSpPr>
          <p:nvPr/>
        </p:nvSpPr>
        <p:spPr>
          <a:xfrm>
            <a:off x="4495800" y="47720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baixa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43F4D20-5DA7-4AA6-81F4-E2E2EFA989E1}"/>
              </a:ext>
            </a:extLst>
          </p:cNvPr>
          <p:cNvSpPr>
            <a:spLocks noGrp="1"/>
          </p:cNvSpPr>
          <p:nvPr/>
        </p:nvSpPr>
        <p:spPr>
          <a:xfrm>
            <a:off x="6591300" y="47720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60" name="Retângulo 59">
            <a:extLst>
              <a:ext uri="{FF2B5EF4-FFF2-40B4-BE49-F238E27FC236}">
                <a16:creationId xmlns:a16="http://schemas.microsoft.com/office/drawing/2014/main" id="{141028DD-927B-4530-952D-CAC8BEF2175A}"/>
              </a:ext>
            </a:extLst>
          </p:cNvPr>
          <p:cNvSpPr>
            <a:spLocks noGrp="1"/>
          </p:cNvSpPr>
          <p:nvPr/>
        </p:nvSpPr>
        <p:spPr>
          <a:xfrm>
            <a:off x="8686800" y="4772025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0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alta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81BFDDBA-3F31-485D-B058-40D6B47B08A4}"/>
              </a:ext>
            </a:extLst>
          </p:cNvPr>
          <p:cNvSpPr>
            <a:spLocks noGrp="1"/>
          </p:cNvSpPr>
          <p:nvPr/>
        </p:nvSpPr>
        <p:spPr>
          <a:xfrm>
            <a:off x="1524000" y="5581650"/>
            <a:ext cx="9144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 diferencial é transformar atenção em experiência e experiência em sinal de recrutamento.</a:t>
            </a:r>
          </a:p>
        </p:txBody>
      </p:sp>
    </p:spTree>
    <p:extLst>
      <p:ext uri="{BB962C8B-B14F-4D97-AF65-F5344CB8AC3E}">
        <p14:creationId xmlns:p14="http://schemas.microsoft.com/office/powerpoint/2010/main" val="12494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tângulo 45">
            <a:extLst>
              <a:ext uri="{FF2B5EF4-FFF2-40B4-BE49-F238E27FC236}">
                <a16:creationId xmlns:a16="http://schemas.microsoft.com/office/drawing/2014/main" id="{8EC40203-AC95-451B-9011-40D39F2552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E3E541C-0CDB-4868-825C-BB3E402590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A0B7B50B-79E2-4B64-95E7-59CA434F499A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76C672A6-6F29-44B2-89D3-BA1A111B661D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92DE4B64-78AE-4EDB-98A2-B95F60204091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952B5D35-25CA-4073-B464-799041FC4CB9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BD1A5721-FD25-4264-8F1A-4A439A846587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66FF972-F039-4310-85CB-81C8F5FA2A5C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D1C039C8-9B30-4693-BBED-4E87BBEBD71E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F192F799-3AA4-4353-8AE6-D922557C169A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0ED99A85-F9A2-4C7F-8F19-A35D02EF2333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818E9E7C-4865-426F-9659-F1377F31A936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741ACB84-BD01-44BD-8822-43D6E77C40BD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27A29E05-0DCC-4310-85E3-281F23C223D2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CFE20307-2A71-4784-A073-66D0408B157C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5F3FFDEC-EBD7-4DF5-BDDD-6283CCA37C6F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A056C33C-0833-4E25-BF58-DC8BB45224ED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90FD9A19-4FB0-437B-93E8-4B2C9315DB02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C138BB31-25B4-46A2-8B71-E28551B6E5B2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FA840D72-42F2-4C25-BD74-B71B5ABFF9F5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E74E4892-A8FD-4B6E-BA75-F5A6CB07AD9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2AA02096-27A2-4B4E-B453-B685DCD880A3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FCF2F67A-DEA1-43A0-A23D-792321E8CEE0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3956B9EC-CBB0-4F58-B101-FFEA231481EF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524C8F42-9327-4DBE-9BA5-A9E36160F5EE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722D982D-2DCB-4954-930B-59EA3DA56277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CDD5A114-1678-4E6B-842D-75ACCA74BDD5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7A04AFCF-4FE6-439C-8AC4-780BC32B1FC0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BD7FE0B-0E6A-4DFF-85B2-D57219A8863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09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63320BE-E2E4-4F33-9885-88C84DAE44B0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EXPANSÃO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ABFF8FF1-865B-4376-9FB0-8D54A191F9FF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A visão é virar a camada imersiva de carreiras tech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B01307B-C6AC-4101-9FB2-7BD3E99AF463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O MVP abre caminho para um produto maior, com IA, segurança corporativa e WebXR.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A26E593-9F40-46EC-9FE0-6EB57587E161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3048000" cy="180975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174145A-769C-467E-BD6F-E041DF7884BC}"/>
              </a:ext>
            </a:extLst>
          </p:cNvPr>
          <p:cNvSpPr>
            <a:spLocks noGrp="1"/>
          </p:cNvSpPr>
          <p:nvPr/>
        </p:nvSpPr>
        <p:spPr>
          <a:xfrm>
            <a:off x="876300" y="2552700"/>
            <a:ext cx="57150" cy="1809750"/>
          </a:xfrm>
          <a:prstGeom prst="rect">
            <a:avLst/>
          </a:prstGeom>
          <a:solidFill>
            <a:srgbClr val="30F26B"/>
          </a:solidFill>
          <a:ln>
            <a:solidFill>
              <a:srgbClr val="30F26B"/>
            </a:solidFill>
          </a:ln>
        </p:spPr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C4A21A6-4647-48B2-9FF9-B0A2EE21BE9F}"/>
              </a:ext>
            </a:extLst>
          </p:cNvPr>
          <p:cNvSpPr>
            <a:spLocks noGrp="1"/>
          </p:cNvSpPr>
          <p:nvPr/>
        </p:nvSpPr>
        <p:spPr>
          <a:xfrm>
            <a:off x="1085850" y="27241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Agora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AFBE910-5EAF-4C93-924A-261ADBB6A57F}"/>
              </a:ext>
            </a:extLst>
          </p:cNvPr>
          <p:cNvSpPr>
            <a:spLocks noGrp="1"/>
          </p:cNvSpPr>
          <p:nvPr/>
        </p:nvSpPr>
        <p:spPr>
          <a:xfrm>
            <a:off x="1085850" y="3086100"/>
            <a:ext cx="2667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MVP navegável: lobby, salas, vagas, candidatura, match, multiplayer e dashboard.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891E5E1-D624-4442-9029-66225D92E61A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3048000" cy="180975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5910D78-7878-4A8C-B9C6-03E80C038A52}"/>
              </a:ext>
            </a:extLst>
          </p:cNvPr>
          <p:cNvSpPr>
            <a:spLocks noGrp="1"/>
          </p:cNvSpPr>
          <p:nvPr/>
        </p:nvSpPr>
        <p:spPr>
          <a:xfrm>
            <a:off x="4572000" y="2552700"/>
            <a:ext cx="57150" cy="180975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8791162-13B5-4965-8A06-C6D8286E7C6A}"/>
              </a:ext>
            </a:extLst>
          </p:cNvPr>
          <p:cNvSpPr>
            <a:spLocks noGrp="1"/>
          </p:cNvSpPr>
          <p:nvPr/>
        </p:nvSpPr>
        <p:spPr>
          <a:xfrm>
            <a:off x="4781550" y="27241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Próximo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0225185-7D73-4379-A811-8EEADCE5AA88}"/>
              </a:ext>
            </a:extLst>
          </p:cNvPr>
          <p:cNvSpPr>
            <a:spLocks noGrp="1"/>
          </p:cNvSpPr>
          <p:nvPr/>
        </p:nvSpPr>
        <p:spPr>
          <a:xfrm>
            <a:off x="4781550" y="3086100"/>
            <a:ext cx="2667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IA real para análise de CV, Supabase Auth, RLS por empresa, analytics e PWA.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1128CB3-960F-4D15-B547-72D7A7241FCD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3048000" cy="1809750"/>
          </a:xfrm>
          <a:prstGeom prst="roundRect">
            <a:avLst>
              <a:gd name="adj" fmla="val 6316"/>
            </a:avLst>
          </a:prstGeom>
          <a:solidFill>
            <a:srgbClr val="111827"/>
          </a:solidFill>
          <a:ln w="9525">
            <a:solidFill>
              <a:srgbClr val="263047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248374D-6C28-4282-9EBF-0A0E9B75040D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57150" cy="1809750"/>
          </a:xfrm>
          <a:prstGeom prst="rect">
            <a:avLst/>
          </a:prstGeom>
          <a:solidFill>
            <a:srgbClr val="B85CFF"/>
          </a:solidFill>
          <a:ln>
            <a:solidFill>
              <a:srgbClr val="B85CFF"/>
            </a:solidFill>
          </a:ln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361DC7EF-5B51-4532-B82D-CD22E75FB448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68605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Depois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795CA5D-C7DF-44B1-99AC-54AFA03B0900}"/>
              </a:ext>
            </a:extLst>
          </p:cNvPr>
          <p:cNvSpPr>
            <a:spLocks noGrp="1"/>
          </p:cNvSpPr>
          <p:nvPr/>
        </p:nvSpPr>
        <p:spPr>
          <a:xfrm>
            <a:off x="8477250" y="3086100"/>
            <a:ext cx="2667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163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WebXR/Meta Quest, eventos simultâneos, marketplace de estandes e selo NFT/POAP.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819ADAB-4242-49E4-8ABC-406584F7DE2A}"/>
              </a:ext>
            </a:extLst>
          </p:cNvPr>
          <p:cNvSpPr>
            <a:spLocks noGrp="1"/>
          </p:cNvSpPr>
          <p:nvPr/>
        </p:nvSpPr>
        <p:spPr>
          <a:xfrm>
            <a:off x="1219200" y="5181600"/>
            <a:ext cx="9753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Começa como projeto de hackathon. Pode evoluir para produto B2B de employer branding e recrutamento.</a:t>
            </a:r>
          </a:p>
        </p:txBody>
      </p:sp>
    </p:spTree>
    <p:extLst>
      <p:ext uri="{BB962C8B-B14F-4D97-AF65-F5344CB8AC3E}">
        <p14:creationId xmlns:p14="http://schemas.microsoft.com/office/powerpoint/2010/main" val="1099523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E164C17D-A2AE-492A-913B-F11BF4F205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914"/>
          </a:solidFill>
          <a:ln>
            <a:solidFill>
              <a:srgbClr val="070914"/>
            </a:solidFill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4156EE-5F1C-4B37-9350-7DB9789C8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00D4FF"/>
              </a:gs>
              <a:gs pos="50000">
                <a:srgbClr val="B85CFF"/>
              </a:gs>
              <a:gs pos="100000">
                <a:srgbClr val="30F26B"/>
              </a:gs>
            </a:gsLst>
            <a:lin ang="5400000"/>
          </a:gradFill>
          <a:ln>
            <a:solidFill>
              <a:srgbClr val="070914"/>
            </a:solidFill>
          </a:ln>
        </p:spPr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E3859A9-A071-467E-8D50-3C6BF26BBA15}"/>
              </a:ext>
            </a:extLst>
          </p:cNvPr>
          <p:cNvSpPr>
            <a:spLocks noGrp="1"/>
          </p:cNvSpPr>
          <p:nvPr/>
        </p:nvSpPr>
        <p:spPr>
          <a:xfrm>
            <a:off x="571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A8C106D4-45A2-491D-B458-D6DE7DB617B3}"/>
              </a:ext>
            </a:extLst>
          </p:cNvPr>
          <p:cNvSpPr>
            <a:spLocks noGrp="1"/>
          </p:cNvSpPr>
          <p:nvPr/>
        </p:nvSpPr>
        <p:spPr>
          <a:xfrm>
            <a:off x="1219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5" name="Conector reto 4">
            <a:extLst>
              <a:ext uri="{FF2B5EF4-FFF2-40B4-BE49-F238E27FC236}">
                <a16:creationId xmlns:a16="http://schemas.microsoft.com/office/drawing/2014/main" id="{51E450A9-9CC7-4424-928B-939627134AC6}"/>
              </a:ext>
            </a:extLst>
          </p:cNvPr>
          <p:cNvSpPr>
            <a:spLocks noGrp="1"/>
          </p:cNvSpPr>
          <p:nvPr/>
        </p:nvSpPr>
        <p:spPr>
          <a:xfrm>
            <a:off x="1866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AE47703F-1A46-4596-9389-208395A2C9D7}"/>
              </a:ext>
            </a:extLst>
          </p:cNvPr>
          <p:cNvSpPr>
            <a:spLocks noGrp="1"/>
          </p:cNvSpPr>
          <p:nvPr/>
        </p:nvSpPr>
        <p:spPr>
          <a:xfrm>
            <a:off x="2514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A190B81D-A252-4135-BB4C-21C140C96614}"/>
              </a:ext>
            </a:extLst>
          </p:cNvPr>
          <p:cNvSpPr>
            <a:spLocks noGrp="1"/>
          </p:cNvSpPr>
          <p:nvPr/>
        </p:nvSpPr>
        <p:spPr>
          <a:xfrm>
            <a:off x="3162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8" name="Conector reto 7">
            <a:extLst>
              <a:ext uri="{FF2B5EF4-FFF2-40B4-BE49-F238E27FC236}">
                <a16:creationId xmlns:a16="http://schemas.microsoft.com/office/drawing/2014/main" id="{EE7D6DE0-7981-4936-AFA1-9A6081C744FB}"/>
              </a:ext>
            </a:extLst>
          </p:cNvPr>
          <p:cNvSpPr>
            <a:spLocks noGrp="1"/>
          </p:cNvSpPr>
          <p:nvPr/>
        </p:nvSpPr>
        <p:spPr>
          <a:xfrm>
            <a:off x="3810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549EC0E5-2FDF-4969-A339-F0D9F08574FE}"/>
              </a:ext>
            </a:extLst>
          </p:cNvPr>
          <p:cNvSpPr>
            <a:spLocks noGrp="1"/>
          </p:cNvSpPr>
          <p:nvPr/>
        </p:nvSpPr>
        <p:spPr>
          <a:xfrm>
            <a:off x="4457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0" name="Conector reto 9">
            <a:extLst>
              <a:ext uri="{FF2B5EF4-FFF2-40B4-BE49-F238E27FC236}">
                <a16:creationId xmlns:a16="http://schemas.microsoft.com/office/drawing/2014/main" id="{8CD9744F-792F-4E5C-9E58-1BE6C569C2D4}"/>
              </a:ext>
            </a:extLst>
          </p:cNvPr>
          <p:cNvSpPr>
            <a:spLocks noGrp="1"/>
          </p:cNvSpPr>
          <p:nvPr/>
        </p:nvSpPr>
        <p:spPr>
          <a:xfrm>
            <a:off x="5105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3A9EBAEE-DCAA-4F77-AE66-4DACD2032320}"/>
              </a:ext>
            </a:extLst>
          </p:cNvPr>
          <p:cNvSpPr>
            <a:spLocks noGrp="1"/>
          </p:cNvSpPr>
          <p:nvPr/>
        </p:nvSpPr>
        <p:spPr>
          <a:xfrm>
            <a:off x="57531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2" name="Conector reto 11">
            <a:extLst>
              <a:ext uri="{FF2B5EF4-FFF2-40B4-BE49-F238E27FC236}">
                <a16:creationId xmlns:a16="http://schemas.microsoft.com/office/drawing/2014/main" id="{22244A02-9DCA-49AB-BFC9-B3A8518E8B36}"/>
              </a:ext>
            </a:extLst>
          </p:cNvPr>
          <p:cNvSpPr>
            <a:spLocks noGrp="1"/>
          </p:cNvSpPr>
          <p:nvPr/>
        </p:nvSpPr>
        <p:spPr>
          <a:xfrm>
            <a:off x="64008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3" name="Conector reto 12">
            <a:extLst>
              <a:ext uri="{FF2B5EF4-FFF2-40B4-BE49-F238E27FC236}">
                <a16:creationId xmlns:a16="http://schemas.microsoft.com/office/drawing/2014/main" id="{2B6FA141-7756-42AA-993E-0867E3688821}"/>
              </a:ext>
            </a:extLst>
          </p:cNvPr>
          <p:cNvSpPr>
            <a:spLocks noGrp="1"/>
          </p:cNvSpPr>
          <p:nvPr/>
        </p:nvSpPr>
        <p:spPr>
          <a:xfrm>
            <a:off x="70485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4" name="Conector reto 13">
            <a:extLst>
              <a:ext uri="{FF2B5EF4-FFF2-40B4-BE49-F238E27FC236}">
                <a16:creationId xmlns:a16="http://schemas.microsoft.com/office/drawing/2014/main" id="{7C23DD1F-D5C1-4394-B0EC-F220C61F33AC}"/>
              </a:ext>
            </a:extLst>
          </p:cNvPr>
          <p:cNvSpPr>
            <a:spLocks noGrp="1"/>
          </p:cNvSpPr>
          <p:nvPr/>
        </p:nvSpPr>
        <p:spPr>
          <a:xfrm>
            <a:off x="76962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7EA5D933-DF99-45C3-B1C8-3871FA2B02C6}"/>
              </a:ext>
            </a:extLst>
          </p:cNvPr>
          <p:cNvSpPr>
            <a:spLocks noGrp="1"/>
          </p:cNvSpPr>
          <p:nvPr/>
        </p:nvSpPr>
        <p:spPr>
          <a:xfrm>
            <a:off x="83439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6" name="Conector reto 15">
            <a:extLst>
              <a:ext uri="{FF2B5EF4-FFF2-40B4-BE49-F238E27FC236}">
                <a16:creationId xmlns:a16="http://schemas.microsoft.com/office/drawing/2014/main" id="{79A91329-1A57-4C76-84BA-8A631913559B}"/>
              </a:ext>
            </a:extLst>
          </p:cNvPr>
          <p:cNvSpPr>
            <a:spLocks noGrp="1"/>
          </p:cNvSpPr>
          <p:nvPr/>
        </p:nvSpPr>
        <p:spPr>
          <a:xfrm>
            <a:off x="89916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808DF02F-D564-4FE5-8A4D-D5A4F76441E5}"/>
              </a:ext>
            </a:extLst>
          </p:cNvPr>
          <p:cNvSpPr>
            <a:spLocks noGrp="1"/>
          </p:cNvSpPr>
          <p:nvPr/>
        </p:nvSpPr>
        <p:spPr>
          <a:xfrm>
            <a:off x="96393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83030B16-BDD8-467B-A4C5-784DE938F319}"/>
              </a:ext>
            </a:extLst>
          </p:cNvPr>
          <p:cNvSpPr>
            <a:spLocks noGrp="1"/>
          </p:cNvSpPr>
          <p:nvPr/>
        </p:nvSpPr>
        <p:spPr>
          <a:xfrm>
            <a:off x="102870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19" name="Conector reto 18">
            <a:extLst>
              <a:ext uri="{FF2B5EF4-FFF2-40B4-BE49-F238E27FC236}">
                <a16:creationId xmlns:a16="http://schemas.microsoft.com/office/drawing/2014/main" id="{6B20D331-9B58-4864-BC53-8C24F8410E34}"/>
              </a:ext>
            </a:extLst>
          </p:cNvPr>
          <p:cNvSpPr>
            <a:spLocks noGrp="1"/>
          </p:cNvSpPr>
          <p:nvPr/>
        </p:nvSpPr>
        <p:spPr>
          <a:xfrm>
            <a:off x="109347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0" name="Conector reto 19">
            <a:extLst>
              <a:ext uri="{FF2B5EF4-FFF2-40B4-BE49-F238E27FC236}">
                <a16:creationId xmlns:a16="http://schemas.microsoft.com/office/drawing/2014/main" id="{466485C3-2798-4661-8775-19E514589557}"/>
              </a:ext>
            </a:extLst>
          </p:cNvPr>
          <p:cNvSpPr>
            <a:spLocks noGrp="1"/>
          </p:cNvSpPr>
          <p:nvPr/>
        </p:nvSpPr>
        <p:spPr>
          <a:xfrm>
            <a:off x="11582400" y="914400"/>
            <a:ext cx="0" cy="533400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2615B3A4-FC47-4645-B55B-3A21D53DE69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969AD284-4145-4456-89B5-4E49E454B3E7}"/>
              </a:ext>
            </a:extLst>
          </p:cNvPr>
          <p:cNvSpPr>
            <a:spLocks noGrp="1"/>
          </p:cNvSpPr>
          <p:nvPr/>
        </p:nvSpPr>
        <p:spPr>
          <a:xfrm>
            <a:off x="552450" y="1752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D1504FF7-95F5-46D6-87AD-DC12E2EB7622}"/>
              </a:ext>
            </a:extLst>
          </p:cNvPr>
          <p:cNvSpPr>
            <a:spLocks noGrp="1"/>
          </p:cNvSpPr>
          <p:nvPr/>
        </p:nvSpPr>
        <p:spPr>
          <a:xfrm>
            <a:off x="552450" y="2362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4" name="Conector reto 23">
            <a:extLst>
              <a:ext uri="{FF2B5EF4-FFF2-40B4-BE49-F238E27FC236}">
                <a16:creationId xmlns:a16="http://schemas.microsoft.com/office/drawing/2014/main" id="{DF75B779-25A1-438D-801E-36450338F1AE}"/>
              </a:ext>
            </a:extLst>
          </p:cNvPr>
          <p:cNvSpPr>
            <a:spLocks noGrp="1"/>
          </p:cNvSpPr>
          <p:nvPr/>
        </p:nvSpPr>
        <p:spPr>
          <a:xfrm>
            <a:off x="552450" y="29718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6F4BC208-491B-4280-8557-0900A297B410}"/>
              </a:ext>
            </a:extLst>
          </p:cNvPr>
          <p:cNvSpPr>
            <a:spLocks noGrp="1"/>
          </p:cNvSpPr>
          <p:nvPr/>
        </p:nvSpPr>
        <p:spPr>
          <a:xfrm>
            <a:off x="552450" y="35814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773186F9-091A-4257-AB56-D98421EFC4AC}"/>
              </a:ext>
            </a:extLst>
          </p:cNvPr>
          <p:cNvSpPr>
            <a:spLocks noGrp="1"/>
          </p:cNvSpPr>
          <p:nvPr/>
        </p:nvSpPr>
        <p:spPr>
          <a:xfrm>
            <a:off x="552450" y="41910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29BE7CED-4F3E-41CF-AEB3-2895ABCB916C}"/>
              </a:ext>
            </a:extLst>
          </p:cNvPr>
          <p:cNvSpPr>
            <a:spLocks noGrp="1"/>
          </p:cNvSpPr>
          <p:nvPr/>
        </p:nvSpPr>
        <p:spPr>
          <a:xfrm>
            <a:off x="552450" y="48006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AF774A2E-EBB6-4D26-96F4-9A7865FF496F}"/>
              </a:ext>
            </a:extLst>
          </p:cNvPr>
          <p:cNvSpPr>
            <a:spLocks noGrp="1"/>
          </p:cNvSpPr>
          <p:nvPr/>
        </p:nvSpPr>
        <p:spPr>
          <a:xfrm>
            <a:off x="552450" y="5410200"/>
            <a:ext cx="10668000" cy="0"/>
          </a:xfrm>
          <a:prstGeom prst="line">
            <a:avLst/>
          </a:prstGeom>
          <a:ln w="5239">
            <a:solidFill>
              <a:srgbClr val="182033"/>
            </a:solidFill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0CA5277-9F69-420F-8879-B5286EDF3B5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JOBVERSE | EQUIPE ZEUS | 10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CD84846-DA60-40FF-B578-919836F096FC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7810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05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B9A7B58-7048-4DEC-A394-9D9EEECA0CD3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0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JobVerse vende uma primeira impressão melhor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9BEEDB4E-1047-4C7C-BE71-70588090AEA2}"/>
              </a:ext>
            </a:extLst>
          </p:cNvPr>
          <p:cNvSpPr>
            <a:spLocks noGrp="1"/>
          </p:cNvSpPr>
          <p:nvPr/>
        </p:nvSpPr>
        <p:spPr>
          <a:xfrm>
            <a:off x="704850" y="1841500"/>
            <a:ext cx="9334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Para empresas, mais marca e melhores sinais. Para devs, mais contexto e menos frieza.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59A4CA6-7B16-459B-AB4D-A7C1A0951AF6}"/>
              </a:ext>
            </a:extLst>
          </p:cNvPr>
          <p:cNvSpPr>
            <a:spLocks noGrp="1"/>
          </p:cNvSpPr>
          <p:nvPr/>
        </p:nvSpPr>
        <p:spPr>
          <a:xfrm>
            <a:off x="4095750" y="2381250"/>
            <a:ext cx="62865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O JobVerse transforma o processo seletivo em uma experiência que dá vontade de explorar.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6812D253-CAB6-43D7-A5D8-C565F106976D}"/>
              </a:ext>
            </a:extLst>
          </p:cNvPr>
          <p:cNvSpPr>
            <a:spLocks noGrp="1"/>
          </p:cNvSpPr>
          <p:nvPr/>
        </p:nvSpPr>
        <p:spPr>
          <a:xfrm>
            <a:off x="4095750" y="3676650"/>
            <a:ext cx="6286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Deploy: https://job-verse-tau.vercel.app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35D022D7-8102-44D4-A498-377AD492768B}"/>
              </a:ext>
            </a:extLst>
          </p:cNvPr>
          <p:cNvSpPr>
            <a:spLocks noGrp="1"/>
          </p:cNvSpPr>
          <p:nvPr/>
        </p:nvSpPr>
        <p:spPr>
          <a:xfrm>
            <a:off x="4095750" y="4038600"/>
            <a:ext cx="6286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GitHub: https://github.com/MaykeSN/JobVerse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69586960-D51D-41B9-A12E-5891BFE6FA27}"/>
              </a:ext>
            </a:extLst>
          </p:cNvPr>
          <p:cNvSpPr>
            <a:spLocks noGrp="1"/>
          </p:cNvSpPr>
          <p:nvPr/>
        </p:nvSpPr>
        <p:spPr>
          <a:xfrm>
            <a:off x="4095750" y="4629150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30F26B"/>
            </a:solidFill>
          </a:ln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F27967A-8435-41DD-9789-353127F9CE0D}"/>
              </a:ext>
            </a:extLst>
          </p:cNvPr>
          <p:cNvSpPr>
            <a:spLocks noGrp="1"/>
          </p:cNvSpPr>
          <p:nvPr/>
        </p:nvSpPr>
        <p:spPr>
          <a:xfrm>
            <a:off x="4095750" y="4705350"/>
            <a:ext cx="12954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30F2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0F26B"/>
                </a:solidFill>
                <a:latin typeface="Aptos"/>
                <a:ea typeface="Aptos"/>
                <a:cs typeface="Aptos"/>
              </a:rPr>
              <a:t>Experimente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CA562972-05EA-4905-829E-F8FEFE686AB8}"/>
              </a:ext>
            </a:extLst>
          </p:cNvPr>
          <p:cNvSpPr>
            <a:spLocks noGrp="1"/>
          </p:cNvSpPr>
          <p:nvPr/>
        </p:nvSpPr>
        <p:spPr>
          <a:xfrm>
            <a:off x="5581650" y="4629150"/>
            <a:ext cx="203835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B85CFF"/>
            </a:solidFill>
          </a:ln>
        </p:spPr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FFAAB424-D66D-4860-BB19-63815DC308A7}"/>
              </a:ext>
            </a:extLst>
          </p:cNvPr>
          <p:cNvSpPr>
            <a:spLocks noGrp="1"/>
          </p:cNvSpPr>
          <p:nvPr/>
        </p:nvSpPr>
        <p:spPr>
          <a:xfrm>
            <a:off x="5581650" y="4705350"/>
            <a:ext cx="20383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B85C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5CFF"/>
                </a:solidFill>
                <a:latin typeface="Aptos"/>
                <a:ea typeface="Aptos"/>
                <a:cs typeface="Aptos"/>
              </a:rPr>
              <a:t>Apresente para empresas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334A605E-6A55-41E4-8A28-9A1E0A1A20A0}"/>
              </a:ext>
            </a:extLst>
          </p:cNvPr>
          <p:cNvSpPr>
            <a:spLocks noGrp="1"/>
          </p:cNvSpPr>
          <p:nvPr/>
        </p:nvSpPr>
        <p:spPr>
          <a:xfrm>
            <a:off x="7810500" y="4629150"/>
            <a:ext cx="1905000" cy="323850"/>
          </a:xfrm>
          <a:prstGeom prst="roundRect">
            <a:avLst>
              <a:gd name="adj" fmla="val 50000"/>
            </a:avLst>
          </a:prstGeom>
          <a:solidFill>
            <a:srgbClr val="0B1020"/>
          </a:solidFill>
          <a:ln w="9525">
            <a:solidFill>
              <a:srgbClr val="00D4FF"/>
            </a:solidFill>
          </a:ln>
        </p:spPr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05FE3F7B-7010-444D-BC04-BF6BD0DE3E1B}"/>
              </a:ext>
            </a:extLst>
          </p:cNvPr>
          <p:cNvSpPr>
            <a:spLocks noGrp="1"/>
          </p:cNvSpPr>
          <p:nvPr/>
        </p:nvSpPr>
        <p:spPr>
          <a:xfrm>
            <a:off x="7810500" y="47053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defRPr sz="975" b="1">
                <a:solidFill>
                  <a:srgbClr val="00D4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D4FF"/>
                </a:solidFill>
                <a:latin typeface="Aptos"/>
                <a:ea typeface="Aptos"/>
                <a:cs typeface="Aptos"/>
              </a:rPr>
              <a:t>Escalone para eventos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0EEE8F33-2C14-4157-B829-9ABAAE3A3CEF}"/>
              </a:ext>
            </a:extLst>
          </p:cNvPr>
          <p:cNvSpPr>
            <a:spLocks noGrp="1"/>
          </p:cNvSpPr>
          <p:nvPr/>
        </p:nvSpPr>
        <p:spPr>
          <a:xfrm>
            <a:off x="4095750" y="5461000"/>
            <a:ext cx="660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defRPr sz="1350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lang="pt-BR" sz="1300" b="0">
                <a:solidFill>
                  <a:srgbClr val="BFBFBF"/>
                </a:solidFill>
                <a:latin typeface="Aptos"/>
                <a:ea typeface="Aptos"/>
                <a:cs typeface="Aptos"/>
              </a:rPr>
              <a:t>Equipe Zeus: Yang Andrade, Mayke Nogueira, Nicolas Cabral e Samuel Macena</a:t>
            </a:r>
            <a:endParaRPr sz="1300" b="0">
              <a:solidFill>
                <a:srgbClr val="BFBFB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0" name="JobVerse logo oficial">
            <a:extLst>
              <a:ext uri="{FF2B5EF4-FFF2-40B4-BE49-F238E27FC236}">
                <a16:creationId xmlns:a16="http://schemas.microsoft.com/office/drawing/2014/main" id="{1C95F028-4B44-4F17-C20A-9716B6A160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311400"/>
            <a:ext cx="21590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510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873</Words>
  <Application>Microsoft Office PowerPoint</Application>
  <DocSecurity>0</DocSecurity>
  <PresentationFormat>Widescreen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Yang Andrade</cp:lastModifiedBy>
  <cp:revision>3</cp:revision>
  <dcterms:created xsi:type="dcterms:W3CDTF">2026-06-06T01:45:00Z</dcterms:created>
  <dcterms:modified xsi:type="dcterms:W3CDTF">2026-06-07T16:54:40Z</dcterms:modified>
</cp:coreProperties>
</file>